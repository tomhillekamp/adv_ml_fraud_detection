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57" r:id="rId3"/>
    <p:sldId id="258" r:id="rId4"/>
    <p:sldId id="259" r:id="rId5"/>
    <p:sldId id="260" r:id="rId6"/>
    <p:sldId id="272" r:id="rId7"/>
    <p:sldId id="273" r:id="rId8"/>
    <p:sldId id="261" r:id="rId9"/>
    <p:sldId id="270" r:id="rId10"/>
    <p:sldId id="274" r:id="rId11"/>
    <p:sldId id="269" r:id="rId12"/>
    <p:sldId id="262" r:id="rId13"/>
    <p:sldId id="275" r:id="rId14"/>
    <p:sldId id="263" r:id="rId15"/>
    <p:sldId id="271" r:id="rId16"/>
    <p:sldId id="264" r:id="rId17"/>
    <p:sldId id="265" r:id="rId18"/>
    <p:sldId id="266" r:id="rId19"/>
    <p:sldId id="26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B36909-29AD-47FF-994D-4BDC2FDB6F0A}" v="1573" dt="2026-06-25T16:44:00.0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3" d="100"/>
          <a:sy n="73" d="100"/>
        </p:scale>
        <p:origin x="873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PR-AUC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Tabelle1!$A$2:$A$3</c:f>
              <c:strCache>
                <c:ptCount val="2"/>
                <c:pt idx="0">
                  <c:v>Validation Set</c:v>
                </c:pt>
                <c:pt idx="1">
                  <c:v>Public Test Set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6.6799999999999998E-2</c:v>
                </c:pt>
                <c:pt idx="1">
                  <c:v>6.2300000000000001E-2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54A-42A3-8483-7A725680CDE2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Embeddings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Tabelle1!$A$2:$A$3</c:f>
              <c:strCache>
                <c:ptCount val="2"/>
                <c:pt idx="0">
                  <c:v>Validation Set</c:v>
                </c:pt>
                <c:pt idx="1">
                  <c:v>Public Test Set</c:v>
                </c:pt>
              </c:strCache>
            </c:strRef>
          </c:cat>
          <c:val>
            <c:numRef>
              <c:f>Tabelle1!$C$2:$C$3</c:f>
              <c:numCache>
                <c:formatCode>General</c:formatCode>
                <c:ptCount val="2"/>
                <c:pt idx="0">
                  <c:v>0.17269999999999999</c:v>
                </c:pt>
                <c:pt idx="1">
                  <c:v>0.13739999999999999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54A-42A3-8483-7A725680CDE2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XGBoost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Tabelle1!$A$2:$A$3</c:f>
              <c:strCache>
                <c:ptCount val="2"/>
                <c:pt idx="0">
                  <c:v>Validation Set</c:v>
                </c:pt>
                <c:pt idx="1">
                  <c:v>Public Test Set</c:v>
                </c:pt>
              </c:strCache>
            </c:strRef>
          </c:cat>
          <c:val>
            <c:numRef>
              <c:f>Tabelle1!$D$2:$D$3</c:f>
              <c:numCache>
                <c:formatCode>General</c:formatCode>
                <c:ptCount val="2"/>
                <c:pt idx="0">
                  <c:v>0.1769</c:v>
                </c:pt>
                <c:pt idx="1">
                  <c:v>0.1895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54A-42A3-8483-7A725680CD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44099824"/>
        <c:axId val="1344098864"/>
      </c:barChart>
      <c:catAx>
        <c:axId val="13440998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44098864"/>
        <c:crosses val="autoZero"/>
        <c:auto val="1"/>
        <c:lblAlgn val="ctr"/>
        <c:lblOffset val="100"/>
        <c:noMultiLvlLbl val="0"/>
      </c:catAx>
      <c:valAx>
        <c:axId val="13440988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440998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F7493A-1D16-474C-A1BD-CE81F02449A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51ED31F-67AD-4559-B617-699FA4DE5401}">
      <dgm:prSet/>
      <dgm:spPr/>
      <dgm:t>
        <a:bodyPr/>
        <a:lstStyle/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r>
            <a:rPr lang="en-US" dirty="0"/>
            <a:t>Find the best way to </a:t>
          </a:r>
          <a:r>
            <a:rPr lang="en-US" dirty="0" err="1"/>
            <a:t>analyse</a:t>
          </a:r>
          <a:r>
            <a:rPr lang="en-US" dirty="0"/>
            <a:t> shopping basket data from a retailer partner in order to detect fraud cases</a:t>
          </a:r>
        </a:p>
      </dgm:t>
    </dgm:pt>
    <dgm:pt modelId="{BDF92A0B-10C8-4AD2-A5D5-E045A41B3B2B}" type="parTrans" cxnId="{EDCE4556-CC52-41B3-B0C5-77E72EA81DD1}">
      <dgm:prSet/>
      <dgm:spPr/>
      <dgm:t>
        <a:bodyPr/>
        <a:lstStyle/>
        <a:p>
          <a:endParaRPr lang="en-US"/>
        </a:p>
      </dgm:t>
    </dgm:pt>
    <dgm:pt modelId="{1BB36995-8537-411E-BC75-39E8CEFAF14D}" type="sibTrans" cxnId="{EDCE4556-CC52-41B3-B0C5-77E72EA81DD1}">
      <dgm:prSet/>
      <dgm:spPr/>
      <dgm:t>
        <a:bodyPr/>
        <a:lstStyle/>
        <a:p>
          <a:endParaRPr lang="en-US"/>
        </a:p>
      </dgm:t>
    </dgm:pt>
    <dgm:pt modelId="{DA346400-B06D-4A7D-92B5-2CF7DC1ED48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de-DE" sz="1600" b="1" dirty="0"/>
            <a:t>Problem</a:t>
          </a:r>
          <a:r>
            <a:rPr lang="de-DE" sz="1600" dirty="0"/>
            <a:t>:</a:t>
          </a:r>
        </a:p>
        <a:p>
          <a:pPr>
            <a:lnSpc>
              <a:spcPct val="100000"/>
            </a:lnSpc>
          </a:pPr>
          <a:r>
            <a:rPr lang="de-DE" sz="1600" dirty="0" err="1"/>
            <a:t>Fraudsters</a:t>
          </a:r>
          <a:r>
            <a:rPr lang="de-DE" sz="1600" dirty="0"/>
            <a:t> </a:t>
          </a:r>
          <a:r>
            <a:rPr lang="de-DE" sz="1600" dirty="0" err="1"/>
            <a:t>use</a:t>
          </a:r>
          <a:r>
            <a:rPr lang="de-DE" sz="1600" dirty="0"/>
            <a:t> </a:t>
          </a:r>
          <a:r>
            <a:rPr lang="de-DE" sz="1600" b="1" dirty="0"/>
            <a:t>“Buy </a:t>
          </a:r>
          <a:r>
            <a:rPr lang="de-DE" sz="1600" b="1" dirty="0" err="1"/>
            <a:t>now</a:t>
          </a:r>
          <a:r>
            <a:rPr lang="de-DE" sz="1600" b="1" dirty="0"/>
            <a:t> – </a:t>
          </a:r>
          <a:r>
            <a:rPr lang="de-DE" sz="1600" b="1" dirty="0" err="1"/>
            <a:t>pay</a:t>
          </a:r>
          <a:r>
            <a:rPr lang="de-DE" sz="1600" b="1" dirty="0"/>
            <a:t> </a:t>
          </a:r>
          <a:r>
            <a:rPr lang="de-DE" sz="1600" b="1" dirty="0" err="1"/>
            <a:t>later</a:t>
          </a:r>
          <a:r>
            <a:rPr lang="de-DE" sz="1600" b="1" dirty="0"/>
            <a:t>“ </a:t>
          </a:r>
          <a:r>
            <a:rPr lang="de-DE" sz="1600" dirty="0"/>
            <a:t>but </a:t>
          </a:r>
          <a:r>
            <a:rPr lang="de-DE" sz="1600" dirty="0" err="1"/>
            <a:t>never</a:t>
          </a:r>
          <a:r>
            <a:rPr lang="de-DE" sz="1600" dirty="0"/>
            <a:t> </a:t>
          </a:r>
          <a:r>
            <a:rPr lang="de-DE" sz="1600" dirty="0" err="1"/>
            <a:t>pay</a:t>
          </a:r>
          <a:endParaRPr lang="en-US" sz="1600" dirty="0"/>
        </a:p>
      </dgm:t>
    </dgm:pt>
    <dgm:pt modelId="{308D8741-E804-4D5A-A3C1-A059C8FCA63B}" type="parTrans" cxnId="{03416BC3-8063-48CD-B404-9D23186E7C1A}">
      <dgm:prSet/>
      <dgm:spPr/>
      <dgm:t>
        <a:bodyPr/>
        <a:lstStyle/>
        <a:p>
          <a:endParaRPr lang="en-US"/>
        </a:p>
      </dgm:t>
    </dgm:pt>
    <dgm:pt modelId="{0796445E-A9AF-4651-82BE-18B0DB867AEE}" type="sibTrans" cxnId="{03416BC3-8063-48CD-B404-9D23186E7C1A}">
      <dgm:prSet/>
      <dgm:spPr/>
      <dgm:t>
        <a:bodyPr/>
        <a:lstStyle/>
        <a:p>
          <a:endParaRPr lang="en-US"/>
        </a:p>
      </dgm:t>
    </dgm:pt>
    <dgm:pt modelId="{53BFD304-CBD0-4730-91DC-6341545AEFC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Classification – </a:t>
          </a:r>
          <a:r>
            <a:rPr lang="en-US" b="1" dirty="0"/>
            <a:t>Fraud</a:t>
          </a:r>
          <a:r>
            <a:rPr lang="en-US" dirty="0"/>
            <a:t>/</a:t>
          </a:r>
          <a:r>
            <a:rPr lang="en-US" b="1" dirty="0"/>
            <a:t>Not</a:t>
          </a:r>
          <a:r>
            <a:rPr lang="en-US" dirty="0"/>
            <a:t> </a:t>
          </a:r>
          <a:r>
            <a:rPr lang="en-US" b="1" dirty="0"/>
            <a:t>Fraud</a:t>
          </a:r>
        </a:p>
      </dgm:t>
    </dgm:pt>
    <dgm:pt modelId="{3DE2EA2A-EFF2-4A6E-BB2F-FFC98B7F0561}" type="parTrans" cxnId="{8D600BCB-9B65-4E3A-A780-895D88B699D9}">
      <dgm:prSet/>
      <dgm:spPr/>
      <dgm:t>
        <a:bodyPr/>
        <a:lstStyle/>
        <a:p>
          <a:endParaRPr lang="en-US"/>
        </a:p>
      </dgm:t>
    </dgm:pt>
    <dgm:pt modelId="{000AAF08-90C5-482E-A020-5B3E24637A1A}" type="sibTrans" cxnId="{8D600BCB-9B65-4E3A-A780-895D88B699D9}">
      <dgm:prSet/>
      <dgm:spPr/>
      <dgm:t>
        <a:bodyPr/>
        <a:lstStyle/>
        <a:p>
          <a:endParaRPr lang="en-US"/>
        </a:p>
      </dgm:t>
    </dgm:pt>
    <dgm:pt modelId="{37AD6B58-915A-4207-9E62-668F121F9FD8}">
      <dgm:prSet/>
      <dgm:spPr/>
      <dgm:t>
        <a:bodyPr/>
        <a:lstStyle/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r>
            <a:rPr lang="en-US" dirty="0"/>
            <a:t>Tabular Data with shopping basket contents, e.g. item type, number of items, prices per item</a:t>
          </a:r>
        </a:p>
      </dgm:t>
    </dgm:pt>
    <dgm:pt modelId="{344B6868-7CBC-467D-843D-E33E1E6922A0}" type="parTrans" cxnId="{B48FDC46-E830-4BC5-842C-7E3EC1A2A3DF}">
      <dgm:prSet/>
      <dgm:spPr/>
      <dgm:t>
        <a:bodyPr/>
        <a:lstStyle/>
        <a:p>
          <a:endParaRPr lang="en-US"/>
        </a:p>
      </dgm:t>
    </dgm:pt>
    <dgm:pt modelId="{EC76B252-567A-4492-B75D-8EDCB1DB9A64}" type="sibTrans" cxnId="{B48FDC46-E830-4BC5-842C-7E3EC1A2A3DF}">
      <dgm:prSet/>
      <dgm:spPr/>
      <dgm:t>
        <a:bodyPr/>
        <a:lstStyle/>
        <a:p>
          <a:endParaRPr lang="en-US"/>
        </a:p>
      </dgm:t>
    </dgm:pt>
    <dgm:pt modelId="{CAF1B615-EBE7-4F5F-B86B-62301D639A9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de-DE" sz="1400" b="1" i="0" dirty="0"/>
            <a:t>115.988 </a:t>
          </a:r>
          <a:r>
            <a:rPr lang="de-DE" sz="1400" b="1" i="0" dirty="0" err="1"/>
            <a:t>samples</a:t>
          </a:r>
          <a:r>
            <a:rPr lang="de-DE" sz="1400" b="1" i="0" dirty="0"/>
            <a:t>:</a:t>
          </a:r>
          <a:r>
            <a:rPr lang="de-DE" sz="1400" i="0" dirty="0"/>
            <a:t>  ~1.4% </a:t>
          </a:r>
          <a:r>
            <a:rPr lang="de-DE" sz="1400" i="0" dirty="0" err="1"/>
            <a:t>fraud</a:t>
          </a:r>
          <a:endParaRPr lang="en-US" sz="1400" dirty="0"/>
        </a:p>
      </dgm:t>
    </dgm:pt>
    <dgm:pt modelId="{6DE4BABC-72F1-480C-9973-427007DAF82B}" type="parTrans" cxnId="{18AA5CA3-4746-4E5C-8240-042B5AA29174}">
      <dgm:prSet/>
      <dgm:spPr/>
      <dgm:t>
        <a:bodyPr/>
        <a:lstStyle/>
        <a:p>
          <a:endParaRPr lang="en-US"/>
        </a:p>
      </dgm:t>
    </dgm:pt>
    <dgm:pt modelId="{6781729E-7117-4D50-A1CE-3DA6224570C5}" type="sibTrans" cxnId="{18AA5CA3-4746-4E5C-8240-042B5AA29174}">
      <dgm:prSet/>
      <dgm:spPr/>
      <dgm:t>
        <a:bodyPr/>
        <a:lstStyle/>
        <a:p>
          <a:endParaRPr lang="en-US"/>
        </a:p>
      </dgm:t>
    </dgm:pt>
    <dgm:pt modelId="{FDFD596E-0DE0-40D3-90C5-1E0CC17B010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de-DE" sz="1400" i="0" dirty="0"/>
            <a:t>147 </a:t>
          </a:r>
          <a:r>
            <a:rPr lang="de-DE" sz="1400" i="0" dirty="0" err="1"/>
            <a:t>columns</a:t>
          </a:r>
          <a:r>
            <a:rPr lang="de-DE" sz="1400" i="0" dirty="0"/>
            <a:t>: 144 are </a:t>
          </a:r>
          <a:r>
            <a:rPr lang="de-DE" sz="1400" i="0" dirty="0" err="1"/>
            <a:t>grouped</a:t>
          </a:r>
          <a:r>
            <a:rPr lang="de-DE" sz="1400" i="0" dirty="0"/>
            <a:t> </a:t>
          </a:r>
          <a:r>
            <a:rPr lang="de-DE" sz="1400" i="0" dirty="0" err="1"/>
            <a:t>into</a:t>
          </a:r>
          <a:r>
            <a:rPr lang="de-DE" sz="1400" i="0" dirty="0"/>
            <a:t> 6 </a:t>
          </a:r>
          <a:r>
            <a:rPr lang="de-DE" sz="1400" i="0" dirty="0" err="1"/>
            <a:t>categories</a:t>
          </a:r>
          <a:r>
            <a:rPr lang="de-DE" sz="1400" i="0" dirty="0"/>
            <a:t> </a:t>
          </a:r>
          <a:endParaRPr lang="en-US" sz="1400" dirty="0"/>
        </a:p>
      </dgm:t>
    </dgm:pt>
    <dgm:pt modelId="{D912767D-D118-48BC-A700-1F8E2C254E37}" type="parTrans" cxnId="{2FB29867-616D-4E27-9163-66BB191DAEA8}">
      <dgm:prSet/>
      <dgm:spPr/>
      <dgm:t>
        <a:bodyPr/>
        <a:lstStyle/>
        <a:p>
          <a:endParaRPr lang="en-US"/>
        </a:p>
      </dgm:t>
    </dgm:pt>
    <dgm:pt modelId="{76C918DE-56E7-43A6-9C35-B883A61437EE}" type="sibTrans" cxnId="{2FB29867-616D-4E27-9163-66BB191DAEA8}">
      <dgm:prSet/>
      <dgm:spPr/>
      <dgm:t>
        <a:bodyPr/>
        <a:lstStyle/>
        <a:p>
          <a:endParaRPr lang="en-US"/>
        </a:p>
      </dgm:t>
    </dgm:pt>
    <dgm:pt modelId="{79DDA416-BE4B-4FA7-9054-DF263C322AC2}" type="pres">
      <dgm:prSet presAssocID="{22F7493A-1D16-474C-A1BD-CE81F02449A0}" presName="root" presStyleCnt="0">
        <dgm:presLayoutVars>
          <dgm:dir/>
          <dgm:resizeHandles val="exact"/>
        </dgm:presLayoutVars>
      </dgm:prSet>
      <dgm:spPr/>
    </dgm:pt>
    <dgm:pt modelId="{D8FEF86B-BBFD-40F4-843E-0200C8419B99}" type="pres">
      <dgm:prSet presAssocID="{551ED31F-67AD-4559-B617-699FA4DE5401}" presName="compNode" presStyleCnt="0"/>
      <dgm:spPr/>
    </dgm:pt>
    <dgm:pt modelId="{3C4638DA-4FE9-4480-9B42-38B852428DA1}" type="pres">
      <dgm:prSet presAssocID="{551ED31F-67AD-4559-B617-699FA4DE5401}" presName="bgRect" presStyleLbl="bgShp" presStyleIdx="0" presStyleCnt="3" custLinFactNeighborY="-43"/>
      <dgm:spPr/>
    </dgm:pt>
    <dgm:pt modelId="{85E6C84C-7F4C-4429-96A0-FE99FB329A35}" type="pres">
      <dgm:prSet presAssocID="{551ED31F-67AD-4559-B617-699FA4DE5401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9A67D3A6-75A3-44E5-AD23-00E9B49E9D72}" type="pres">
      <dgm:prSet presAssocID="{551ED31F-67AD-4559-B617-699FA4DE5401}" presName="spaceRect" presStyleCnt="0"/>
      <dgm:spPr/>
    </dgm:pt>
    <dgm:pt modelId="{9F31BF2A-A04C-4218-A245-CC95FE531CC1}" type="pres">
      <dgm:prSet presAssocID="{551ED31F-67AD-4559-B617-699FA4DE5401}" presName="parTx" presStyleLbl="revTx" presStyleIdx="0" presStyleCnt="5">
        <dgm:presLayoutVars>
          <dgm:chMax val="0"/>
          <dgm:chPref val="0"/>
        </dgm:presLayoutVars>
      </dgm:prSet>
      <dgm:spPr/>
    </dgm:pt>
    <dgm:pt modelId="{5AFA770A-7ED3-481B-ABAE-C0E22B69FBD3}" type="pres">
      <dgm:prSet presAssocID="{551ED31F-67AD-4559-B617-699FA4DE5401}" presName="desTx" presStyleLbl="revTx" presStyleIdx="1" presStyleCnt="5">
        <dgm:presLayoutVars/>
      </dgm:prSet>
      <dgm:spPr/>
    </dgm:pt>
    <dgm:pt modelId="{E310A20A-2AD0-4384-A6B1-85C4EA6E00BD}" type="pres">
      <dgm:prSet presAssocID="{1BB36995-8537-411E-BC75-39E8CEFAF14D}" presName="sibTrans" presStyleCnt="0"/>
      <dgm:spPr/>
    </dgm:pt>
    <dgm:pt modelId="{78242AF8-A29D-41C6-80FE-1C9A585D083D}" type="pres">
      <dgm:prSet presAssocID="{53BFD304-CBD0-4730-91DC-6341545AEFCB}" presName="compNode" presStyleCnt="0"/>
      <dgm:spPr/>
    </dgm:pt>
    <dgm:pt modelId="{A8008B8D-C222-4DB5-A92A-62267AF37509}" type="pres">
      <dgm:prSet presAssocID="{53BFD304-CBD0-4730-91DC-6341545AEFCB}" presName="bgRect" presStyleLbl="bgShp" presStyleIdx="1" presStyleCnt="3"/>
      <dgm:spPr/>
    </dgm:pt>
    <dgm:pt modelId="{8C515449-006B-4FC0-B094-35F0A7893B09}" type="pres">
      <dgm:prSet presAssocID="{53BFD304-CBD0-4730-91DC-6341545AEFC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äuber"/>
        </a:ext>
      </dgm:extLst>
    </dgm:pt>
    <dgm:pt modelId="{B18872E1-5291-488B-81A1-FE5AEEEEE760}" type="pres">
      <dgm:prSet presAssocID="{53BFD304-CBD0-4730-91DC-6341545AEFCB}" presName="spaceRect" presStyleCnt="0"/>
      <dgm:spPr/>
    </dgm:pt>
    <dgm:pt modelId="{4CBA44FE-B05D-4CC6-BC98-DDEB1DFA7E11}" type="pres">
      <dgm:prSet presAssocID="{53BFD304-CBD0-4730-91DC-6341545AEFCB}" presName="parTx" presStyleLbl="revTx" presStyleIdx="2" presStyleCnt="5">
        <dgm:presLayoutVars>
          <dgm:chMax val="0"/>
          <dgm:chPref val="0"/>
        </dgm:presLayoutVars>
      </dgm:prSet>
      <dgm:spPr/>
    </dgm:pt>
    <dgm:pt modelId="{CE3E12E1-ADB9-4317-BCC7-4C4BBA18C854}" type="pres">
      <dgm:prSet presAssocID="{000AAF08-90C5-482E-A020-5B3E24637A1A}" presName="sibTrans" presStyleCnt="0"/>
      <dgm:spPr/>
    </dgm:pt>
    <dgm:pt modelId="{EC890AA4-DCC3-4F2A-84C5-262E6C2E3120}" type="pres">
      <dgm:prSet presAssocID="{37AD6B58-915A-4207-9E62-668F121F9FD8}" presName="compNode" presStyleCnt="0"/>
      <dgm:spPr/>
    </dgm:pt>
    <dgm:pt modelId="{AA9F011E-40AF-47E0-A8F9-D2565559C056}" type="pres">
      <dgm:prSet presAssocID="{37AD6B58-915A-4207-9E62-668F121F9FD8}" presName="bgRect" presStyleLbl="bgShp" presStyleIdx="2" presStyleCnt="3"/>
      <dgm:spPr/>
    </dgm:pt>
    <dgm:pt modelId="{FA189174-2E5A-4C19-A586-0334DEC6835B}" type="pres">
      <dgm:prSet presAssocID="{37AD6B58-915A-4207-9E62-668F121F9FD8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basket"/>
        </a:ext>
      </dgm:extLst>
    </dgm:pt>
    <dgm:pt modelId="{B2D83232-81DB-4EFF-B9CF-96FDCA70D336}" type="pres">
      <dgm:prSet presAssocID="{37AD6B58-915A-4207-9E62-668F121F9FD8}" presName="spaceRect" presStyleCnt="0"/>
      <dgm:spPr/>
    </dgm:pt>
    <dgm:pt modelId="{5409EBFA-0566-4A12-AB95-91D792EEFEE4}" type="pres">
      <dgm:prSet presAssocID="{37AD6B58-915A-4207-9E62-668F121F9FD8}" presName="parTx" presStyleLbl="revTx" presStyleIdx="3" presStyleCnt="5">
        <dgm:presLayoutVars>
          <dgm:chMax val="0"/>
          <dgm:chPref val="0"/>
        </dgm:presLayoutVars>
      </dgm:prSet>
      <dgm:spPr/>
    </dgm:pt>
    <dgm:pt modelId="{4DFC89F5-32BE-4FDB-9EF4-15F94E86BE40}" type="pres">
      <dgm:prSet presAssocID="{37AD6B58-915A-4207-9E62-668F121F9FD8}" presName="desTx" presStyleLbl="revTx" presStyleIdx="4" presStyleCnt="5">
        <dgm:presLayoutVars/>
      </dgm:prSet>
      <dgm:spPr/>
    </dgm:pt>
  </dgm:ptLst>
  <dgm:cxnLst>
    <dgm:cxn modelId="{2B5C5811-A08C-4D3C-927F-223F073C977E}" type="presOf" srcId="{CAF1B615-EBE7-4F5F-B86B-62301D639A95}" destId="{4DFC89F5-32BE-4FDB-9EF4-15F94E86BE40}" srcOrd="0" destOrd="0" presId="urn:microsoft.com/office/officeart/2018/2/layout/IconVerticalSolidList"/>
    <dgm:cxn modelId="{08D21E25-84DE-42B5-9BE1-37FC8B7CEAE5}" type="presOf" srcId="{37AD6B58-915A-4207-9E62-668F121F9FD8}" destId="{5409EBFA-0566-4A12-AB95-91D792EEFEE4}" srcOrd="0" destOrd="0" presId="urn:microsoft.com/office/officeart/2018/2/layout/IconVerticalSolidList"/>
    <dgm:cxn modelId="{B48FDC46-E830-4BC5-842C-7E3EC1A2A3DF}" srcId="{22F7493A-1D16-474C-A1BD-CE81F02449A0}" destId="{37AD6B58-915A-4207-9E62-668F121F9FD8}" srcOrd="2" destOrd="0" parTransId="{344B6868-7CBC-467D-843D-E33E1E6922A0}" sibTransId="{EC76B252-567A-4492-B75D-8EDCB1DB9A64}"/>
    <dgm:cxn modelId="{2FB29867-616D-4E27-9163-66BB191DAEA8}" srcId="{37AD6B58-915A-4207-9E62-668F121F9FD8}" destId="{FDFD596E-0DE0-40D3-90C5-1E0CC17B0109}" srcOrd="1" destOrd="0" parTransId="{D912767D-D118-48BC-A700-1F8E2C254E37}" sibTransId="{76C918DE-56E7-43A6-9C35-B883A61437EE}"/>
    <dgm:cxn modelId="{EDCE4556-CC52-41B3-B0C5-77E72EA81DD1}" srcId="{22F7493A-1D16-474C-A1BD-CE81F02449A0}" destId="{551ED31F-67AD-4559-B617-699FA4DE5401}" srcOrd="0" destOrd="0" parTransId="{BDF92A0B-10C8-4AD2-A5D5-E045A41B3B2B}" sibTransId="{1BB36995-8537-411E-BC75-39E8CEFAF14D}"/>
    <dgm:cxn modelId="{31DA1877-4374-463E-A4FA-BE4424493E7C}" type="presOf" srcId="{53BFD304-CBD0-4730-91DC-6341545AEFCB}" destId="{4CBA44FE-B05D-4CC6-BC98-DDEB1DFA7E11}" srcOrd="0" destOrd="0" presId="urn:microsoft.com/office/officeart/2018/2/layout/IconVerticalSolidList"/>
    <dgm:cxn modelId="{F47C3D79-F771-4D28-9F2F-9E93EAF86AC3}" type="presOf" srcId="{551ED31F-67AD-4559-B617-699FA4DE5401}" destId="{9F31BF2A-A04C-4218-A245-CC95FE531CC1}" srcOrd="0" destOrd="0" presId="urn:microsoft.com/office/officeart/2018/2/layout/IconVerticalSolidList"/>
    <dgm:cxn modelId="{18AA5CA3-4746-4E5C-8240-042B5AA29174}" srcId="{37AD6B58-915A-4207-9E62-668F121F9FD8}" destId="{CAF1B615-EBE7-4F5F-B86B-62301D639A95}" srcOrd="0" destOrd="0" parTransId="{6DE4BABC-72F1-480C-9973-427007DAF82B}" sibTransId="{6781729E-7117-4D50-A1CE-3DA6224570C5}"/>
    <dgm:cxn modelId="{07A3F0B4-8649-442F-82DD-CE7A301A749D}" type="presOf" srcId="{22F7493A-1D16-474C-A1BD-CE81F02449A0}" destId="{79DDA416-BE4B-4FA7-9054-DF263C322AC2}" srcOrd="0" destOrd="0" presId="urn:microsoft.com/office/officeart/2018/2/layout/IconVerticalSolidList"/>
    <dgm:cxn modelId="{03416BC3-8063-48CD-B404-9D23186E7C1A}" srcId="{551ED31F-67AD-4559-B617-699FA4DE5401}" destId="{DA346400-B06D-4A7D-92B5-2CF7DC1ED48A}" srcOrd="0" destOrd="0" parTransId="{308D8741-E804-4D5A-A3C1-A059C8FCA63B}" sibTransId="{0796445E-A9AF-4651-82BE-18B0DB867AEE}"/>
    <dgm:cxn modelId="{8D600BCB-9B65-4E3A-A780-895D88B699D9}" srcId="{22F7493A-1D16-474C-A1BD-CE81F02449A0}" destId="{53BFD304-CBD0-4730-91DC-6341545AEFCB}" srcOrd="1" destOrd="0" parTransId="{3DE2EA2A-EFF2-4A6E-BB2F-FFC98B7F0561}" sibTransId="{000AAF08-90C5-482E-A020-5B3E24637A1A}"/>
    <dgm:cxn modelId="{9E32A9D4-9388-4102-A9FB-EE47BD78B67C}" type="presOf" srcId="{FDFD596E-0DE0-40D3-90C5-1E0CC17B0109}" destId="{4DFC89F5-32BE-4FDB-9EF4-15F94E86BE40}" srcOrd="0" destOrd="1" presId="urn:microsoft.com/office/officeart/2018/2/layout/IconVerticalSolidList"/>
    <dgm:cxn modelId="{77BC2DEF-4731-4F40-A5F1-D1E3753CB150}" type="presOf" srcId="{DA346400-B06D-4A7D-92B5-2CF7DC1ED48A}" destId="{5AFA770A-7ED3-481B-ABAE-C0E22B69FBD3}" srcOrd="0" destOrd="0" presId="urn:microsoft.com/office/officeart/2018/2/layout/IconVerticalSolidList"/>
    <dgm:cxn modelId="{9BC67188-9031-4C08-A33B-0869BC99DA3B}" type="presParOf" srcId="{79DDA416-BE4B-4FA7-9054-DF263C322AC2}" destId="{D8FEF86B-BBFD-40F4-843E-0200C8419B99}" srcOrd="0" destOrd="0" presId="urn:microsoft.com/office/officeart/2018/2/layout/IconVerticalSolidList"/>
    <dgm:cxn modelId="{8D876F15-85CD-4929-9D65-E5051EE26F79}" type="presParOf" srcId="{D8FEF86B-BBFD-40F4-843E-0200C8419B99}" destId="{3C4638DA-4FE9-4480-9B42-38B852428DA1}" srcOrd="0" destOrd="0" presId="urn:microsoft.com/office/officeart/2018/2/layout/IconVerticalSolidList"/>
    <dgm:cxn modelId="{A93C5AB1-2094-4403-BD2B-1D8DEC4A9E57}" type="presParOf" srcId="{D8FEF86B-BBFD-40F4-843E-0200C8419B99}" destId="{85E6C84C-7F4C-4429-96A0-FE99FB329A35}" srcOrd="1" destOrd="0" presId="urn:microsoft.com/office/officeart/2018/2/layout/IconVerticalSolidList"/>
    <dgm:cxn modelId="{073543CA-D1A1-421E-8236-DB9C769007E6}" type="presParOf" srcId="{D8FEF86B-BBFD-40F4-843E-0200C8419B99}" destId="{9A67D3A6-75A3-44E5-AD23-00E9B49E9D72}" srcOrd="2" destOrd="0" presId="urn:microsoft.com/office/officeart/2018/2/layout/IconVerticalSolidList"/>
    <dgm:cxn modelId="{58CFB772-213B-4E15-8D02-9C40625C6683}" type="presParOf" srcId="{D8FEF86B-BBFD-40F4-843E-0200C8419B99}" destId="{9F31BF2A-A04C-4218-A245-CC95FE531CC1}" srcOrd="3" destOrd="0" presId="urn:microsoft.com/office/officeart/2018/2/layout/IconVerticalSolidList"/>
    <dgm:cxn modelId="{1F878DFC-5BC7-4496-9BCF-625E61EDF2FE}" type="presParOf" srcId="{D8FEF86B-BBFD-40F4-843E-0200C8419B99}" destId="{5AFA770A-7ED3-481B-ABAE-C0E22B69FBD3}" srcOrd="4" destOrd="0" presId="urn:microsoft.com/office/officeart/2018/2/layout/IconVerticalSolidList"/>
    <dgm:cxn modelId="{C690374A-F964-4C93-9E06-F4C8B078736E}" type="presParOf" srcId="{79DDA416-BE4B-4FA7-9054-DF263C322AC2}" destId="{E310A20A-2AD0-4384-A6B1-85C4EA6E00BD}" srcOrd="1" destOrd="0" presId="urn:microsoft.com/office/officeart/2018/2/layout/IconVerticalSolidList"/>
    <dgm:cxn modelId="{2D5C1F1F-2C7E-42CC-88FC-E7DC43AEDB93}" type="presParOf" srcId="{79DDA416-BE4B-4FA7-9054-DF263C322AC2}" destId="{78242AF8-A29D-41C6-80FE-1C9A585D083D}" srcOrd="2" destOrd="0" presId="urn:microsoft.com/office/officeart/2018/2/layout/IconVerticalSolidList"/>
    <dgm:cxn modelId="{005EBFBC-FE48-4F57-9D77-C6D9657948B3}" type="presParOf" srcId="{78242AF8-A29D-41C6-80FE-1C9A585D083D}" destId="{A8008B8D-C222-4DB5-A92A-62267AF37509}" srcOrd="0" destOrd="0" presId="urn:microsoft.com/office/officeart/2018/2/layout/IconVerticalSolidList"/>
    <dgm:cxn modelId="{5EB3160D-06FA-4701-AC26-7C513C82F3E8}" type="presParOf" srcId="{78242AF8-A29D-41C6-80FE-1C9A585D083D}" destId="{8C515449-006B-4FC0-B094-35F0A7893B09}" srcOrd="1" destOrd="0" presId="urn:microsoft.com/office/officeart/2018/2/layout/IconVerticalSolidList"/>
    <dgm:cxn modelId="{DEF6AAE9-E17E-489A-AD83-762A3116A297}" type="presParOf" srcId="{78242AF8-A29D-41C6-80FE-1C9A585D083D}" destId="{B18872E1-5291-488B-81A1-FE5AEEEEE760}" srcOrd="2" destOrd="0" presId="urn:microsoft.com/office/officeart/2018/2/layout/IconVerticalSolidList"/>
    <dgm:cxn modelId="{9D979830-0FC3-4EDD-8DF1-5006F0C00DBB}" type="presParOf" srcId="{78242AF8-A29D-41C6-80FE-1C9A585D083D}" destId="{4CBA44FE-B05D-4CC6-BC98-DDEB1DFA7E11}" srcOrd="3" destOrd="0" presId="urn:microsoft.com/office/officeart/2018/2/layout/IconVerticalSolidList"/>
    <dgm:cxn modelId="{43A4E99A-1740-4292-A9FE-06B3C0E5B11C}" type="presParOf" srcId="{79DDA416-BE4B-4FA7-9054-DF263C322AC2}" destId="{CE3E12E1-ADB9-4317-BCC7-4C4BBA18C854}" srcOrd="3" destOrd="0" presId="urn:microsoft.com/office/officeart/2018/2/layout/IconVerticalSolidList"/>
    <dgm:cxn modelId="{2DF20716-D60D-4158-93FE-F49858E3A17B}" type="presParOf" srcId="{79DDA416-BE4B-4FA7-9054-DF263C322AC2}" destId="{EC890AA4-DCC3-4F2A-84C5-262E6C2E3120}" srcOrd="4" destOrd="0" presId="urn:microsoft.com/office/officeart/2018/2/layout/IconVerticalSolidList"/>
    <dgm:cxn modelId="{BBF11E84-7314-47EE-8C4F-A01CE5CF882C}" type="presParOf" srcId="{EC890AA4-DCC3-4F2A-84C5-262E6C2E3120}" destId="{AA9F011E-40AF-47E0-A8F9-D2565559C056}" srcOrd="0" destOrd="0" presId="urn:microsoft.com/office/officeart/2018/2/layout/IconVerticalSolidList"/>
    <dgm:cxn modelId="{2262D764-B697-4158-AB89-616CD1A26841}" type="presParOf" srcId="{EC890AA4-DCC3-4F2A-84C5-262E6C2E3120}" destId="{FA189174-2E5A-4C19-A586-0334DEC6835B}" srcOrd="1" destOrd="0" presId="urn:microsoft.com/office/officeart/2018/2/layout/IconVerticalSolidList"/>
    <dgm:cxn modelId="{33A2E15A-6C46-47C4-9C99-97365BAB7C6C}" type="presParOf" srcId="{EC890AA4-DCC3-4F2A-84C5-262E6C2E3120}" destId="{B2D83232-81DB-4EFF-B9CF-96FDCA70D336}" srcOrd="2" destOrd="0" presId="urn:microsoft.com/office/officeart/2018/2/layout/IconVerticalSolidList"/>
    <dgm:cxn modelId="{EBA55D5A-7783-47AB-8963-8A741C692DAC}" type="presParOf" srcId="{EC890AA4-DCC3-4F2A-84C5-262E6C2E3120}" destId="{5409EBFA-0566-4A12-AB95-91D792EEFEE4}" srcOrd="3" destOrd="0" presId="urn:microsoft.com/office/officeart/2018/2/layout/IconVerticalSolidList"/>
    <dgm:cxn modelId="{B111280A-B2AD-4363-A87D-5A146CF4C426}" type="presParOf" srcId="{EC890AA4-DCC3-4F2A-84C5-262E6C2E3120}" destId="{4DFC89F5-32BE-4FDB-9EF4-15F94E86BE40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4638DA-4FE9-4480-9B42-38B852428DA1}">
      <dsp:nvSpPr>
        <dsp:cNvPr id="0" name=""/>
        <dsp:cNvSpPr/>
      </dsp:nvSpPr>
      <dsp:spPr>
        <a:xfrm>
          <a:off x="0" y="0"/>
          <a:ext cx="6506304" cy="159327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E6C84C-7F4C-4429-96A0-FE99FB329A35}">
      <dsp:nvSpPr>
        <dsp:cNvPr id="0" name=""/>
        <dsp:cNvSpPr/>
      </dsp:nvSpPr>
      <dsp:spPr>
        <a:xfrm>
          <a:off x="481967" y="359168"/>
          <a:ext cx="876303" cy="8763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34925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31BF2A-A04C-4218-A245-CC95FE531CC1}">
      <dsp:nvSpPr>
        <dsp:cNvPr id="0" name=""/>
        <dsp:cNvSpPr/>
      </dsp:nvSpPr>
      <dsp:spPr>
        <a:xfrm>
          <a:off x="1840237" y="680"/>
          <a:ext cx="2927836" cy="1593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622" tIns="168622" rIns="168622" bIns="16862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 dirty="0"/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Find the best way to </a:t>
          </a:r>
          <a:r>
            <a:rPr lang="en-US" sz="1600" kern="1200" dirty="0" err="1"/>
            <a:t>analyse</a:t>
          </a:r>
          <a:r>
            <a:rPr lang="en-US" sz="1600" kern="1200" dirty="0"/>
            <a:t> shopping basket data from a retailer partner in order to detect fraud cases</a:t>
          </a:r>
        </a:p>
      </dsp:txBody>
      <dsp:txXfrm>
        <a:off x="1840237" y="680"/>
        <a:ext cx="2927836" cy="1593279"/>
      </dsp:txXfrm>
    </dsp:sp>
    <dsp:sp modelId="{5AFA770A-7ED3-481B-ABAE-C0E22B69FBD3}">
      <dsp:nvSpPr>
        <dsp:cNvPr id="0" name=""/>
        <dsp:cNvSpPr/>
      </dsp:nvSpPr>
      <dsp:spPr>
        <a:xfrm>
          <a:off x="4768074" y="680"/>
          <a:ext cx="1738229" cy="1593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622" tIns="168622" rIns="168622" bIns="16862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b="1" kern="1200" dirty="0"/>
            <a:t>Problem</a:t>
          </a:r>
          <a:r>
            <a:rPr lang="de-DE" sz="1600" kern="1200" dirty="0"/>
            <a:t>:</a:t>
          </a:r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Fraudsters</a:t>
          </a:r>
          <a:r>
            <a:rPr lang="de-DE" sz="1600" kern="1200" dirty="0"/>
            <a:t> </a:t>
          </a:r>
          <a:r>
            <a:rPr lang="de-DE" sz="1600" kern="1200" dirty="0" err="1"/>
            <a:t>use</a:t>
          </a:r>
          <a:r>
            <a:rPr lang="de-DE" sz="1600" kern="1200" dirty="0"/>
            <a:t> </a:t>
          </a:r>
          <a:r>
            <a:rPr lang="de-DE" sz="1600" b="1" kern="1200" dirty="0"/>
            <a:t>“Buy </a:t>
          </a:r>
          <a:r>
            <a:rPr lang="de-DE" sz="1600" b="1" kern="1200" dirty="0" err="1"/>
            <a:t>now</a:t>
          </a:r>
          <a:r>
            <a:rPr lang="de-DE" sz="1600" b="1" kern="1200" dirty="0"/>
            <a:t> – </a:t>
          </a:r>
          <a:r>
            <a:rPr lang="de-DE" sz="1600" b="1" kern="1200" dirty="0" err="1"/>
            <a:t>pay</a:t>
          </a:r>
          <a:r>
            <a:rPr lang="de-DE" sz="1600" b="1" kern="1200" dirty="0"/>
            <a:t> </a:t>
          </a:r>
          <a:r>
            <a:rPr lang="de-DE" sz="1600" b="1" kern="1200" dirty="0" err="1"/>
            <a:t>later</a:t>
          </a:r>
          <a:r>
            <a:rPr lang="de-DE" sz="1600" b="1" kern="1200" dirty="0"/>
            <a:t>“ </a:t>
          </a:r>
          <a:r>
            <a:rPr lang="de-DE" sz="1600" kern="1200" dirty="0"/>
            <a:t>but </a:t>
          </a:r>
          <a:r>
            <a:rPr lang="de-DE" sz="1600" kern="1200" dirty="0" err="1"/>
            <a:t>never</a:t>
          </a:r>
          <a:r>
            <a:rPr lang="de-DE" sz="1600" kern="1200" dirty="0"/>
            <a:t> </a:t>
          </a:r>
          <a:r>
            <a:rPr lang="de-DE" sz="1600" kern="1200" dirty="0" err="1"/>
            <a:t>pay</a:t>
          </a:r>
          <a:endParaRPr lang="en-US" sz="1600" kern="1200" dirty="0"/>
        </a:p>
      </dsp:txBody>
      <dsp:txXfrm>
        <a:off x="4768074" y="680"/>
        <a:ext cx="1738229" cy="1593279"/>
      </dsp:txXfrm>
    </dsp:sp>
    <dsp:sp modelId="{A8008B8D-C222-4DB5-A92A-62267AF37509}">
      <dsp:nvSpPr>
        <dsp:cNvPr id="0" name=""/>
        <dsp:cNvSpPr/>
      </dsp:nvSpPr>
      <dsp:spPr>
        <a:xfrm>
          <a:off x="0" y="1992280"/>
          <a:ext cx="6506304" cy="159327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515449-006B-4FC0-B094-35F0A7893B09}">
      <dsp:nvSpPr>
        <dsp:cNvPr id="0" name=""/>
        <dsp:cNvSpPr/>
      </dsp:nvSpPr>
      <dsp:spPr>
        <a:xfrm>
          <a:off x="481967" y="2350768"/>
          <a:ext cx="876303" cy="8763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34925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BA44FE-B05D-4CC6-BC98-DDEB1DFA7E11}">
      <dsp:nvSpPr>
        <dsp:cNvPr id="0" name=""/>
        <dsp:cNvSpPr/>
      </dsp:nvSpPr>
      <dsp:spPr>
        <a:xfrm>
          <a:off x="1840237" y="1992280"/>
          <a:ext cx="4666066" cy="1593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622" tIns="168622" rIns="168622" bIns="16862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Classification – </a:t>
          </a:r>
          <a:r>
            <a:rPr lang="en-US" sz="1600" b="1" kern="1200" dirty="0"/>
            <a:t>Fraud</a:t>
          </a:r>
          <a:r>
            <a:rPr lang="en-US" sz="1600" kern="1200" dirty="0"/>
            <a:t>/</a:t>
          </a:r>
          <a:r>
            <a:rPr lang="en-US" sz="1600" b="1" kern="1200" dirty="0"/>
            <a:t>Not</a:t>
          </a:r>
          <a:r>
            <a:rPr lang="en-US" sz="1600" kern="1200" dirty="0"/>
            <a:t> </a:t>
          </a:r>
          <a:r>
            <a:rPr lang="en-US" sz="1600" b="1" kern="1200" dirty="0"/>
            <a:t>Fraud</a:t>
          </a:r>
        </a:p>
      </dsp:txBody>
      <dsp:txXfrm>
        <a:off x="1840237" y="1992280"/>
        <a:ext cx="4666066" cy="1593279"/>
      </dsp:txXfrm>
    </dsp:sp>
    <dsp:sp modelId="{AA9F011E-40AF-47E0-A8F9-D2565559C056}">
      <dsp:nvSpPr>
        <dsp:cNvPr id="0" name=""/>
        <dsp:cNvSpPr/>
      </dsp:nvSpPr>
      <dsp:spPr>
        <a:xfrm>
          <a:off x="0" y="3983879"/>
          <a:ext cx="6506304" cy="159327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189174-2E5A-4C19-A586-0334DEC6835B}">
      <dsp:nvSpPr>
        <dsp:cNvPr id="0" name=""/>
        <dsp:cNvSpPr/>
      </dsp:nvSpPr>
      <dsp:spPr>
        <a:xfrm>
          <a:off x="481967" y="4342367"/>
          <a:ext cx="876303" cy="8763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34925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09EBFA-0566-4A12-AB95-91D792EEFEE4}">
      <dsp:nvSpPr>
        <dsp:cNvPr id="0" name=""/>
        <dsp:cNvSpPr/>
      </dsp:nvSpPr>
      <dsp:spPr>
        <a:xfrm>
          <a:off x="1840237" y="3983879"/>
          <a:ext cx="2927836" cy="1593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622" tIns="168622" rIns="168622" bIns="16862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 dirty="0"/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Tabular Data with shopping basket contents, e.g. item type, number of items, prices per item</a:t>
          </a:r>
        </a:p>
      </dsp:txBody>
      <dsp:txXfrm>
        <a:off x="1840237" y="3983879"/>
        <a:ext cx="2927836" cy="1593279"/>
      </dsp:txXfrm>
    </dsp:sp>
    <dsp:sp modelId="{4DFC89F5-32BE-4FDB-9EF4-15F94E86BE40}">
      <dsp:nvSpPr>
        <dsp:cNvPr id="0" name=""/>
        <dsp:cNvSpPr/>
      </dsp:nvSpPr>
      <dsp:spPr>
        <a:xfrm>
          <a:off x="4768074" y="3983879"/>
          <a:ext cx="1738229" cy="1593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622" tIns="168622" rIns="168622" bIns="168622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b="1" i="0" kern="1200" dirty="0"/>
            <a:t>115.988 </a:t>
          </a:r>
          <a:r>
            <a:rPr lang="de-DE" sz="1400" b="1" i="0" kern="1200" dirty="0" err="1"/>
            <a:t>samples</a:t>
          </a:r>
          <a:r>
            <a:rPr lang="de-DE" sz="1400" b="1" i="0" kern="1200" dirty="0"/>
            <a:t>:</a:t>
          </a:r>
          <a:r>
            <a:rPr lang="de-DE" sz="1400" i="0" kern="1200" dirty="0"/>
            <a:t>  ~1.4% </a:t>
          </a:r>
          <a:r>
            <a:rPr lang="de-DE" sz="1400" i="0" kern="1200" dirty="0" err="1"/>
            <a:t>fraud</a:t>
          </a: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i="0" kern="1200" dirty="0"/>
            <a:t>147 </a:t>
          </a:r>
          <a:r>
            <a:rPr lang="de-DE" sz="1400" i="0" kern="1200" dirty="0" err="1"/>
            <a:t>columns</a:t>
          </a:r>
          <a:r>
            <a:rPr lang="de-DE" sz="1400" i="0" kern="1200" dirty="0"/>
            <a:t>: 144 are </a:t>
          </a:r>
          <a:r>
            <a:rPr lang="de-DE" sz="1400" i="0" kern="1200" dirty="0" err="1"/>
            <a:t>grouped</a:t>
          </a:r>
          <a:r>
            <a:rPr lang="de-DE" sz="1400" i="0" kern="1200" dirty="0"/>
            <a:t> </a:t>
          </a:r>
          <a:r>
            <a:rPr lang="de-DE" sz="1400" i="0" kern="1200" dirty="0" err="1"/>
            <a:t>into</a:t>
          </a:r>
          <a:r>
            <a:rPr lang="de-DE" sz="1400" i="0" kern="1200" dirty="0"/>
            <a:t> 6 </a:t>
          </a:r>
          <a:r>
            <a:rPr lang="de-DE" sz="1400" i="0" kern="1200" dirty="0" err="1"/>
            <a:t>categories</a:t>
          </a:r>
          <a:r>
            <a:rPr lang="de-DE" sz="1400" i="0" kern="1200" dirty="0"/>
            <a:t> </a:t>
          </a:r>
          <a:endParaRPr lang="en-US" sz="1400" kern="1200" dirty="0"/>
        </a:p>
      </dsp:txBody>
      <dsp:txXfrm>
        <a:off x="4768074" y="3983879"/>
        <a:ext cx="1738229" cy="159327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8803687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3107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65406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986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6299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369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1813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2053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9318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4424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2345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C98380DB-4D18-4E8E-ABC4-18847E13405E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E62CB23B-7B3D-45AF-B3BA-A05BC4B62EEA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5251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hyperlink" Target="https://challengedata.ens.fr/challenges/104" TargetMode="Externa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02.08960" TargetMode="External"/><Relationship Id="rId2" Type="http://schemas.openxmlformats.org/officeDocument/2006/relationships/hyperlink" Target="https://www.nature.com/articles/s41598-023-38304-5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l.acm.org/doi/fullHtml/10.1145/3654522.3654588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challengedata.ens.fr/challenges/104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FB104D-ABAC-163E-96C1-8D053FB213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5400"/>
              <a:t>“How to detect a niche of fraudsters?”</a:t>
            </a:r>
            <a:br>
              <a:rPr lang="en-US"/>
            </a:br>
            <a:r>
              <a:rPr lang="en-US" sz="2400"/>
              <a:t>by BNP Paribas PF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82C1732-CB35-68D0-23B1-2FCE7763E0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endParaRPr lang="de-DE"/>
          </a:p>
          <a:p>
            <a:endParaRPr lang="de-DE"/>
          </a:p>
          <a:p>
            <a:r>
              <a:rPr lang="de-DE" err="1"/>
              <a:t>Advanced</a:t>
            </a:r>
            <a:r>
              <a:rPr lang="de-DE"/>
              <a:t> Machine Learning – Open Campus SS 2026</a:t>
            </a:r>
          </a:p>
          <a:p>
            <a:r>
              <a:rPr lang="de-DE" sz="2100" b="1"/>
              <a:t>Alexander Neumann &amp; Tom Hillekamp</a:t>
            </a:r>
          </a:p>
        </p:txBody>
      </p:sp>
    </p:spTree>
    <p:extLst>
      <p:ext uri="{BB962C8B-B14F-4D97-AF65-F5344CB8AC3E}">
        <p14:creationId xmlns:p14="http://schemas.microsoft.com/office/powerpoint/2010/main" val="2713451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5244E1-45BA-9E46-9E6D-451BE335C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4D0F6B-4B9B-8688-7971-D08CA1573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err="1"/>
              <a:t>Introduction</a:t>
            </a:r>
            <a:endParaRPr lang="de-DE"/>
          </a:p>
          <a:p>
            <a:r>
              <a:rPr lang="de-DE" err="1"/>
              <a:t>Literature</a:t>
            </a:r>
            <a:r>
              <a:rPr lang="de-DE"/>
              <a:t> Review</a:t>
            </a:r>
          </a:p>
          <a:p>
            <a:r>
              <a:rPr lang="de-DE"/>
              <a:t>Dataset </a:t>
            </a:r>
            <a:r>
              <a:rPr lang="de-DE" err="1"/>
              <a:t>Characeristics</a:t>
            </a:r>
            <a:endParaRPr lang="de-DE"/>
          </a:p>
          <a:p>
            <a:r>
              <a:rPr lang="de-DE"/>
              <a:t>Baseline Model</a:t>
            </a:r>
          </a:p>
          <a:p>
            <a:r>
              <a:rPr lang="de-DE"/>
              <a:t>Model Definition and Evaluation</a:t>
            </a:r>
          </a:p>
          <a:p>
            <a:r>
              <a:rPr lang="de-DE"/>
              <a:t>Results</a:t>
            </a:r>
          </a:p>
          <a:p>
            <a:r>
              <a:rPr lang="de-DE"/>
              <a:t>Challenges &amp; Errors</a:t>
            </a:r>
          </a:p>
          <a:p>
            <a:r>
              <a:rPr lang="de-DE" err="1"/>
              <a:t>Discussion</a:t>
            </a:r>
            <a:endParaRPr lang="de-DE"/>
          </a:p>
          <a:p>
            <a:r>
              <a:rPr lang="de-DE" err="1"/>
              <a:t>Conclusion</a:t>
            </a:r>
            <a:endParaRPr lang="de-DE"/>
          </a:p>
          <a:p>
            <a:r>
              <a:rPr lang="de-DE"/>
              <a:t>Q &amp; A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4350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0BC9609-A8AF-411F-A9E0-C3B93C894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FEBA526-63E5-1E6C-7352-B04DDA829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639704"/>
            <a:ext cx="3299579" cy="5577840"/>
          </a:xfr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de-DE" dirty="0" err="1"/>
              <a:t>Introduction</a:t>
            </a:r>
            <a:br>
              <a:rPr lang="de-DE" dirty="0"/>
            </a:br>
            <a:r>
              <a:rPr lang="de-DE" sz="2800" b="1" dirty="0"/>
              <a:t>Fraud </a:t>
            </a:r>
            <a:r>
              <a:rPr lang="de-DE" sz="2800" b="1" dirty="0" err="1"/>
              <a:t>Detection</a:t>
            </a:r>
            <a:endParaRPr lang="de-DE" b="1" dirty="0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B5E40505-CA63-DB14-FAC2-70A4BDF097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5242380"/>
              </p:ext>
            </p:extLst>
          </p:nvPr>
        </p:nvGraphicFramePr>
        <p:xfrm>
          <a:off x="4901472" y="639705"/>
          <a:ext cx="6506304" cy="5577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62A56831-0E17-F21F-4E01-A0F17BE59788}"/>
              </a:ext>
            </a:extLst>
          </p:cNvPr>
          <p:cNvSpPr txBox="1"/>
          <p:nvPr/>
        </p:nvSpPr>
        <p:spPr>
          <a:xfrm>
            <a:off x="7038061" y="734243"/>
            <a:ext cx="2233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chemeClr val="bg1"/>
                </a:solidFill>
              </a:rPr>
              <a:t>GOAL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0FE3643-B24D-0A55-A557-7263A6A6AE4A}"/>
              </a:ext>
            </a:extLst>
          </p:cNvPr>
          <p:cNvSpPr txBox="1"/>
          <p:nvPr/>
        </p:nvSpPr>
        <p:spPr>
          <a:xfrm>
            <a:off x="7038061" y="4643533"/>
            <a:ext cx="2233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5989130-C614-350F-52F7-2A9386DD23D3}"/>
              </a:ext>
            </a:extLst>
          </p:cNvPr>
          <p:cNvSpPr txBox="1"/>
          <p:nvPr/>
        </p:nvSpPr>
        <p:spPr>
          <a:xfrm>
            <a:off x="7038061" y="2688888"/>
            <a:ext cx="2233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chemeClr val="bg1"/>
                </a:solidFill>
              </a:rPr>
              <a:t>TASK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84C0A9C-9D09-B12D-89E0-602018FC7051}"/>
              </a:ext>
            </a:extLst>
          </p:cNvPr>
          <p:cNvSpPr txBox="1"/>
          <p:nvPr/>
        </p:nvSpPr>
        <p:spPr>
          <a:xfrm>
            <a:off x="84909" y="6008676"/>
            <a:ext cx="533617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400" dirty="0"/>
          </a:p>
          <a:p>
            <a:r>
              <a:rPr lang="en-US" sz="1400" i="1" dirty="0"/>
              <a:t>Found on </a:t>
            </a:r>
            <a:r>
              <a:rPr lang="en-US" sz="1400" i="1" dirty="0" err="1"/>
              <a:t>ChallengeData</a:t>
            </a:r>
            <a:r>
              <a:rPr lang="en-US" sz="1400" i="1" dirty="0"/>
              <a:t>: </a:t>
            </a:r>
            <a:r>
              <a:rPr lang="en-US" sz="1400" i="1" dirty="0">
                <a:hlinkClick r:id="rId7"/>
              </a:rPr>
              <a:t>https://challengedata.ens.fr/challenges/104</a:t>
            </a:r>
            <a:r>
              <a:rPr lang="en-US" sz="1400" i="1" dirty="0"/>
              <a:t> </a:t>
            </a:r>
            <a:endParaRPr lang="en-US" sz="1400" dirty="0"/>
          </a:p>
          <a:p>
            <a:endParaRPr lang="de-DE" sz="1400" dirty="0"/>
          </a:p>
          <a:p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171798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632BE7-D4B3-A5B7-81F6-6C2A0954D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Literature</a:t>
            </a:r>
            <a:r>
              <a:rPr lang="de-DE"/>
              <a:t> Review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F19D81-7807-DFEB-FE18-F4DAFD554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10189597" cy="4462818"/>
          </a:xfrm>
        </p:spPr>
        <p:txBody>
          <a:bodyPr>
            <a:normAutofit lnSpcReduction="10000"/>
          </a:bodyPr>
          <a:lstStyle/>
          <a:p>
            <a:r>
              <a:rPr lang="de-DE" b="1" dirty="0">
                <a:hlinkClick r:id="rId2"/>
              </a:rPr>
              <a:t>Source 1</a:t>
            </a:r>
            <a:r>
              <a:rPr lang="de-DE" dirty="0"/>
              <a:t>: “A </a:t>
            </a:r>
            <a:r>
              <a:rPr lang="de-DE" dirty="0" err="1"/>
              <a:t>numeric-based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design for </a:t>
            </a:r>
            <a:r>
              <a:rPr lang="de-DE" dirty="0" err="1"/>
              <a:t>detecting</a:t>
            </a:r>
            <a:r>
              <a:rPr lang="de-DE" dirty="0"/>
              <a:t> </a:t>
            </a:r>
            <a:r>
              <a:rPr lang="de-DE" dirty="0" err="1"/>
              <a:t>organized</a:t>
            </a:r>
            <a:r>
              <a:rPr lang="de-DE" dirty="0"/>
              <a:t> </a:t>
            </a:r>
            <a:r>
              <a:rPr lang="de-DE" dirty="0" err="1"/>
              <a:t>retail</a:t>
            </a:r>
            <a:r>
              <a:rPr lang="de-DE" dirty="0"/>
              <a:t> </a:t>
            </a:r>
            <a:r>
              <a:rPr lang="de-DE" dirty="0" err="1"/>
              <a:t>fraud</a:t>
            </a:r>
            <a:r>
              <a:rPr lang="de-DE" dirty="0"/>
              <a:t> in digital </a:t>
            </a:r>
            <a:r>
              <a:rPr lang="de-DE" dirty="0" err="1"/>
              <a:t>marketplaces</a:t>
            </a:r>
            <a:r>
              <a:rPr lang="de-DE" dirty="0"/>
              <a:t>“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b="1" i="0" dirty="0" err="1">
                <a:sym typeface="Wingdings" panose="05000000000000000000" pitchFamily="2" charset="2"/>
              </a:rPr>
              <a:t>Rebalance</a:t>
            </a:r>
            <a:r>
              <a:rPr lang="de-DE" b="1" i="0" dirty="0">
                <a:sym typeface="Wingdings" panose="05000000000000000000" pitchFamily="2" charset="2"/>
              </a:rPr>
              <a:t> </a:t>
            </a:r>
            <a:r>
              <a:rPr lang="de-DE" b="1" i="0" dirty="0" err="1">
                <a:sym typeface="Wingdings" panose="05000000000000000000" pitchFamily="2" charset="2"/>
              </a:rPr>
              <a:t>data</a:t>
            </a:r>
            <a:r>
              <a:rPr lang="de-DE" b="1" i="0" dirty="0">
                <a:sym typeface="Wingdings" panose="05000000000000000000" pitchFamily="2" charset="2"/>
              </a:rPr>
              <a:t> for better </a:t>
            </a:r>
            <a:r>
              <a:rPr lang="de-DE" b="1" i="0" dirty="0" err="1">
                <a:sym typeface="Wingdings" panose="05000000000000000000" pitchFamily="2" charset="2"/>
              </a:rPr>
              <a:t>results</a:t>
            </a:r>
            <a:r>
              <a:rPr lang="de-DE" b="1" i="0" dirty="0">
                <a:sym typeface="Wingdings" panose="05000000000000000000" pitchFamily="2" charset="2"/>
              </a:rPr>
              <a:t>, </a:t>
            </a:r>
            <a:r>
              <a:rPr lang="de-DE" b="1" i="0" dirty="0" err="1">
                <a:sym typeface="Wingdings" panose="05000000000000000000" pitchFamily="2" charset="2"/>
              </a:rPr>
              <a:t>importance</a:t>
            </a:r>
            <a:r>
              <a:rPr lang="de-DE" b="1" i="0" dirty="0">
                <a:sym typeface="Wingdings" panose="05000000000000000000" pitchFamily="2" charset="2"/>
              </a:rPr>
              <a:t> of proper feature </a:t>
            </a:r>
            <a:r>
              <a:rPr lang="de-DE" b="1" i="0" dirty="0" err="1">
                <a:sym typeface="Wingdings" panose="05000000000000000000" pitchFamily="2" charset="2"/>
              </a:rPr>
              <a:t>choice</a:t>
            </a:r>
            <a:endParaRPr lang="de-DE" b="1" i="0" dirty="0">
              <a:sym typeface="Wingdings" panose="05000000000000000000" pitchFamily="2" charset="2"/>
            </a:endParaRPr>
          </a:p>
          <a:p>
            <a:pPr marL="530352" lvl="1" indent="0">
              <a:buNone/>
            </a:pPr>
            <a:endParaRPr lang="de-DE" dirty="0"/>
          </a:p>
          <a:p>
            <a:r>
              <a:rPr lang="de-DE" b="1" dirty="0">
                <a:hlinkClick r:id="rId3"/>
              </a:rPr>
              <a:t>Source 2</a:t>
            </a:r>
            <a:r>
              <a:rPr lang="de-DE" b="1" dirty="0"/>
              <a:t>: “</a:t>
            </a:r>
            <a:r>
              <a:rPr lang="de-DE" dirty="0"/>
              <a:t>A </a:t>
            </a:r>
            <a:r>
              <a:rPr lang="de-DE" dirty="0" err="1"/>
              <a:t>Comprehensive</a:t>
            </a:r>
            <a:r>
              <a:rPr lang="de-DE" dirty="0"/>
              <a:t> Survey on </a:t>
            </a:r>
            <a:r>
              <a:rPr lang="de-DE" dirty="0" err="1"/>
              <a:t>Imbalanced</a:t>
            </a:r>
            <a:r>
              <a:rPr lang="de-DE" dirty="0"/>
              <a:t> Data Learning“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b="1" i="0" dirty="0">
                <a:sym typeface="Wingdings" panose="05000000000000000000" pitchFamily="2" charset="2"/>
              </a:rPr>
              <a:t>Data </a:t>
            </a:r>
            <a:r>
              <a:rPr lang="de-DE" b="1" i="0" dirty="0" err="1">
                <a:sym typeface="Wingdings" panose="05000000000000000000" pitchFamily="2" charset="2"/>
              </a:rPr>
              <a:t>rebalancing</a:t>
            </a:r>
            <a:r>
              <a:rPr lang="de-DE" b="1" i="0" dirty="0">
                <a:sym typeface="Wingdings" panose="05000000000000000000" pitchFamily="2" charset="2"/>
              </a:rPr>
              <a:t> </a:t>
            </a:r>
            <a:r>
              <a:rPr lang="de-DE" b="1" i="0" dirty="0" err="1">
                <a:sym typeface="Wingdings" panose="05000000000000000000" pitchFamily="2" charset="2"/>
              </a:rPr>
              <a:t>techniques</a:t>
            </a:r>
            <a:r>
              <a:rPr lang="de-DE" b="1" i="0" dirty="0">
                <a:sym typeface="Wingdings" panose="05000000000000000000" pitchFamily="2" charset="2"/>
              </a:rPr>
              <a:t>: </a:t>
            </a:r>
            <a:r>
              <a:rPr lang="de-DE" b="1" i="0" dirty="0" err="1">
                <a:sym typeface="Wingdings" panose="05000000000000000000" pitchFamily="2" charset="2"/>
              </a:rPr>
              <a:t>downsampling</a:t>
            </a:r>
            <a:r>
              <a:rPr lang="de-DE" b="1" i="0" dirty="0">
                <a:sym typeface="Wingdings" panose="05000000000000000000" pitchFamily="2" charset="2"/>
              </a:rPr>
              <a:t>, SMOTE, hybrid </a:t>
            </a:r>
            <a:r>
              <a:rPr lang="de-DE" b="1" i="0" dirty="0" err="1">
                <a:sym typeface="Wingdings" panose="05000000000000000000" pitchFamily="2" charset="2"/>
              </a:rPr>
              <a:t>methods</a:t>
            </a:r>
            <a:r>
              <a:rPr lang="de-DE" b="1" i="0" dirty="0">
                <a:sym typeface="Wingdings" panose="05000000000000000000" pitchFamily="2" charset="2"/>
              </a:rPr>
              <a:t>, </a:t>
            </a:r>
            <a:r>
              <a:rPr lang="de-DE" b="1" i="0" dirty="0" err="1">
                <a:sym typeface="Wingdings" panose="05000000000000000000" pitchFamily="2" charset="2"/>
              </a:rPr>
              <a:t>focal</a:t>
            </a:r>
            <a:r>
              <a:rPr lang="de-DE" b="1" i="0" dirty="0">
                <a:sym typeface="Wingdings" panose="05000000000000000000" pitchFamily="2" charset="2"/>
              </a:rPr>
              <a:t> </a:t>
            </a:r>
            <a:r>
              <a:rPr lang="de-DE" b="1" i="0" dirty="0" err="1">
                <a:sym typeface="Wingdings" panose="05000000000000000000" pitchFamily="2" charset="2"/>
              </a:rPr>
              <a:t>loss</a:t>
            </a:r>
            <a:endParaRPr lang="de-DE" b="1" i="0" dirty="0">
              <a:sym typeface="Wingdings" panose="05000000000000000000" pitchFamily="2" charset="2"/>
            </a:endParaRPr>
          </a:p>
          <a:p>
            <a:pPr marL="530352" lvl="1" indent="0">
              <a:buNone/>
            </a:pPr>
            <a:endParaRPr lang="de-DE" i="0" dirty="0"/>
          </a:p>
          <a:p>
            <a:r>
              <a:rPr lang="de-DE" b="1" dirty="0">
                <a:hlinkClick r:id="rId4"/>
              </a:rPr>
              <a:t>Source 3</a:t>
            </a:r>
            <a:r>
              <a:rPr lang="de-DE" b="1" dirty="0"/>
              <a:t>: “</a:t>
            </a:r>
            <a:r>
              <a:rPr lang="de-DE" dirty="0"/>
              <a:t>Fraud </a:t>
            </a:r>
            <a:r>
              <a:rPr lang="de-DE" dirty="0" err="1"/>
              <a:t>Detection</a:t>
            </a:r>
            <a:r>
              <a:rPr lang="de-DE" dirty="0"/>
              <a:t> Models and their </a:t>
            </a:r>
            <a:r>
              <a:rPr lang="de-DE" dirty="0" err="1"/>
              <a:t>Explanations</a:t>
            </a:r>
            <a:r>
              <a:rPr lang="de-DE" dirty="0"/>
              <a:t> for a Buy-</a:t>
            </a:r>
            <a:r>
              <a:rPr lang="de-DE" dirty="0" err="1"/>
              <a:t>Now</a:t>
            </a:r>
            <a:r>
              <a:rPr lang="de-DE" dirty="0"/>
              <a:t>-Pay-Later Application“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b="1" i="0" dirty="0">
                <a:sym typeface="Wingdings" panose="05000000000000000000" pitchFamily="2" charset="2"/>
              </a:rPr>
              <a:t>Comparison of </a:t>
            </a:r>
            <a:r>
              <a:rPr lang="de-DE" b="1" i="0" dirty="0" err="1">
                <a:sym typeface="Wingdings" panose="05000000000000000000" pitchFamily="2" charset="2"/>
              </a:rPr>
              <a:t>techniques</a:t>
            </a:r>
            <a:r>
              <a:rPr lang="de-DE" b="1" i="0" dirty="0">
                <a:sym typeface="Wingdings" panose="05000000000000000000" pitchFamily="2" charset="2"/>
              </a:rPr>
              <a:t>: </a:t>
            </a:r>
            <a:r>
              <a:rPr lang="de-DE" b="1" i="0" dirty="0"/>
              <a:t>Random </a:t>
            </a:r>
            <a:r>
              <a:rPr lang="de-DE" b="1" i="0" dirty="0" err="1"/>
              <a:t>forrest</a:t>
            </a:r>
            <a:r>
              <a:rPr lang="de-DE" b="1" i="0" dirty="0"/>
              <a:t> </a:t>
            </a:r>
            <a:r>
              <a:rPr lang="de-DE" b="1" i="0" dirty="0" err="1"/>
              <a:t>performed</a:t>
            </a:r>
            <a:r>
              <a:rPr lang="de-DE" b="1" i="0" dirty="0"/>
              <a:t> the </a:t>
            </a:r>
            <a:r>
              <a:rPr lang="de-DE" b="1" i="0" dirty="0" err="1"/>
              <a:t>best</a:t>
            </a:r>
            <a:r>
              <a:rPr lang="de-DE" b="1" i="0" dirty="0"/>
              <a:t>, </a:t>
            </a:r>
            <a:r>
              <a:rPr lang="de-DE" b="1" i="0" dirty="0" err="1"/>
              <a:t>use</a:t>
            </a:r>
            <a:r>
              <a:rPr lang="de-DE" b="1" i="0" dirty="0"/>
              <a:t> </a:t>
            </a:r>
            <a:r>
              <a:rPr lang="de-DE" b="1" i="0" dirty="0" err="1"/>
              <a:t>aggregate</a:t>
            </a:r>
            <a:r>
              <a:rPr lang="de-DE" b="1" i="0" dirty="0"/>
              <a:t> </a:t>
            </a:r>
            <a:r>
              <a:rPr lang="de-DE" b="1" i="0" dirty="0" err="1"/>
              <a:t>features</a:t>
            </a:r>
            <a:endParaRPr lang="de-DE" b="1" i="0" dirty="0"/>
          </a:p>
          <a:p>
            <a:pPr lvl="1">
              <a:buFont typeface="Wingdings" panose="05000000000000000000" pitchFamily="2" charset="2"/>
              <a:buChar char="à"/>
            </a:pPr>
            <a:endParaRPr lang="de-DE" i="0" dirty="0"/>
          </a:p>
          <a:p>
            <a:pPr marL="0" indent="0" algn="ctr">
              <a:buNone/>
            </a:pPr>
            <a:r>
              <a:rPr lang="de-DE" sz="1800" b="1" dirty="0" err="1">
                <a:highlight>
                  <a:srgbClr val="FFFF00"/>
                </a:highlight>
              </a:rPr>
              <a:t>However</a:t>
            </a:r>
            <a:r>
              <a:rPr lang="de-DE" sz="1800" b="1" dirty="0">
                <a:highlight>
                  <a:srgbClr val="FFFF00"/>
                </a:highlight>
              </a:rPr>
              <a:t>: </a:t>
            </a:r>
            <a:r>
              <a:rPr lang="de-DE" sz="1800" dirty="0">
                <a:highlight>
                  <a:srgbClr val="FFFF00"/>
                </a:highlight>
              </a:rPr>
              <a:t>not </a:t>
            </a:r>
            <a:r>
              <a:rPr lang="de-DE" sz="1800" dirty="0" err="1">
                <a:highlight>
                  <a:srgbClr val="FFFF00"/>
                </a:highlight>
              </a:rPr>
              <a:t>much</a:t>
            </a:r>
            <a:r>
              <a:rPr lang="de-DE" sz="1800" dirty="0">
                <a:highlight>
                  <a:srgbClr val="FFFF00"/>
                </a:highlight>
              </a:rPr>
              <a:t> </a:t>
            </a:r>
            <a:r>
              <a:rPr lang="de-DE" sz="1800" dirty="0" err="1">
                <a:highlight>
                  <a:srgbClr val="FFFF00"/>
                </a:highlight>
              </a:rPr>
              <a:t>research</a:t>
            </a:r>
            <a:r>
              <a:rPr lang="de-DE" sz="1800" dirty="0">
                <a:highlight>
                  <a:srgbClr val="FFFF00"/>
                </a:highlight>
              </a:rPr>
              <a:t> </a:t>
            </a:r>
            <a:r>
              <a:rPr lang="de-DE" sz="1800" dirty="0" err="1">
                <a:highlight>
                  <a:srgbClr val="FFFF00"/>
                </a:highlight>
              </a:rPr>
              <a:t>concerning</a:t>
            </a:r>
            <a:r>
              <a:rPr lang="de-DE" sz="1800" dirty="0">
                <a:highlight>
                  <a:srgbClr val="FFFF00"/>
                </a:highlight>
              </a:rPr>
              <a:t> </a:t>
            </a:r>
            <a:r>
              <a:rPr lang="de-DE" sz="1800" dirty="0" err="1">
                <a:highlight>
                  <a:srgbClr val="FFFF00"/>
                </a:highlight>
              </a:rPr>
              <a:t>basket</a:t>
            </a:r>
            <a:r>
              <a:rPr lang="de-DE" sz="1800" dirty="0">
                <a:highlight>
                  <a:srgbClr val="FFFF00"/>
                </a:highlight>
              </a:rPr>
              <a:t>-level </a:t>
            </a:r>
            <a:r>
              <a:rPr lang="de-DE" sz="1800" dirty="0" err="1">
                <a:highlight>
                  <a:srgbClr val="FFFF00"/>
                </a:highlight>
              </a:rPr>
              <a:t>data</a:t>
            </a:r>
            <a:r>
              <a:rPr lang="de-DE" sz="1800" dirty="0">
                <a:highlight>
                  <a:srgbClr val="FFFF00"/>
                </a:highlight>
              </a:rPr>
              <a:t>, often </a:t>
            </a:r>
            <a:r>
              <a:rPr lang="de-DE" sz="1800" dirty="0" err="1">
                <a:highlight>
                  <a:srgbClr val="FFFF00"/>
                </a:highlight>
              </a:rPr>
              <a:t>includes</a:t>
            </a:r>
            <a:r>
              <a:rPr lang="de-DE" sz="1800" dirty="0">
                <a:highlight>
                  <a:srgbClr val="FFFF00"/>
                </a:highlight>
              </a:rPr>
              <a:t> </a:t>
            </a:r>
            <a:r>
              <a:rPr lang="de-DE" sz="1800" dirty="0" err="1">
                <a:highlight>
                  <a:srgbClr val="FFFF00"/>
                </a:highlight>
              </a:rPr>
              <a:t>user</a:t>
            </a:r>
            <a:r>
              <a:rPr lang="de-DE" sz="1800" dirty="0">
                <a:highlight>
                  <a:srgbClr val="FFFF00"/>
                </a:highlight>
              </a:rPr>
              <a:t> </a:t>
            </a:r>
            <a:r>
              <a:rPr lang="de-DE" sz="1800" dirty="0" err="1">
                <a:highlight>
                  <a:srgbClr val="FFFF00"/>
                </a:highlight>
              </a:rPr>
              <a:t>data</a:t>
            </a:r>
            <a:r>
              <a:rPr lang="de-DE" sz="1800" dirty="0">
                <a:highlight>
                  <a:srgbClr val="FFFF00"/>
                </a:highlight>
              </a:rPr>
              <a:t> etc.</a:t>
            </a:r>
          </a:p>
          <a:p>
            <a:pPr lvl="1">
              <a:buFont typeface="Wingdings" panose="05000000000000000000" pitchFamily="2" charset="2"/>
              <a:buChar char="à"/>
            </a:pPr>
            <a:endParaRPr lang="de-DE" i="0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1625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6A9643-402B-EA3A-7259-8EC3FC039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Dataset </a:t>
            </a:r>
            <a:r>
              <a:rPr lang="de-DE" err="1"/>
              <a:t>Characteristics</a:t>
            </a:r>
            <a:endParaRPr lang="de-DE"/>
          </a:p>
        </p:txBody>
      </p:sp>
      <p:pic>
        <p:nvPicPr>
          <p:cNvPr id="10" name="Inhaltsplatzhalter 9" descr="Ein Bild, das Text, Screenshot, Rechteck, Diagramm enthält.&#10;&#10;KI-generierte Inhalte können fehlerhaft sein.">
            <a:extLst>
              <a:ext uri="{FF2B5EF4-FFF2-40B4-BE49-F238E27FC236}">
                <a16:creationId xmlns:a16="http://schemas.microsoft.com/office/drawing/2014/main" id="{C70DB9BD-5F35-EAEC-2078-2A301F8E1D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5804" y="1714500"/>
            <a:ext cx="6119164" cy="4503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024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1D241-9B91-08B7-6915-279FAECD3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EEE1F-EBD6-20D8-9F30-84D5BC35F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Dataset </a:t>
            </a:r>
            <a:r>
              <a:rPr lang="de-DE" err="1"/>
              <a:t>Characteristics</a:t>
            </a:r>
            <a:endParaRPr lang="de-DE"/>
          </a:p>
        </p:txBody>
      </p:sp>
      <p:pic>
        <p:nvPicPr>
          <p:cNvPr id="4" name="Inhaltsplatzhalter 3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C7555B90-1945-73B0-3D30-F5AD1807AE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911" y="1761028"/>
            <a:ext cx="5079741" cy="3581400"/>
          </a:xfrm>
          <a:prstGeom prst="rect">
            <a:avLst/>
          </a:prstGeom>
        </p:spPr>
      </p:pic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978FF56-2184-CFD5-7C07-9C4564909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083" y="1756419"/>
            <a:ext cx="5492238" cy="35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912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F93CD-7E5F-4D38-0E89-0B17D68E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985649-2596-C1EE-9CFD-BFBCAA0CE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Dataset </a:t>
            </a:r>
            <a:r>
              <a:rPr lang="de-DE" err="1"/>
              <a:t>Characteristics</a:t>
            </a:r>
            <a:endParaRPr lang="de-DE"/>
          </a:p>
        </p:txBody>
      </p:sp>
      <p:pic>
        <p:nvPicPr>
          <p:cNvPr id="10" name="Inhaltsplatzhalter 9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53D51C0-AE4B-A238-69A7-C5D9C16187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3830" y="1755322"/>
            <a:ext cx="5786740" cy="3581400"/>
          </a:xfrm>
          <a:prstGeom prst="rect">
            <a:avLst/>
          </a:prstGeom>
        </p:spPr>
      </p:pic>
      <p:pic>
        <p:nvPicPr>
          <p:cNvPr id="11" name="Grafik 10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989ACFD3-5891-A157-8784-1B7145AE8A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791" y="1754642"/>
            <a:ext cx="5641522" cy="358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281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473C0F-CF08-6C51-0B39-E302EABBB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Baseline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30DDA-DC27-686A-D837-3DA769863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/>
              <a:t>Simple </a:t>
            </a:r>
            <a:r>
              <a:rPr lang="de-DE" b="1" err="1"/>
              <a:t>Neural</a:t>
            </a:r>
            <a:r>
              <a:rPr lang="de-DE" b="1"/>
              <a:t> Network </a:t>
            </a:r>
          </a:p>
          <a:p>
            <a:r>
              <a:rPr lang="de-DE" b="1"/>
              <a:t>Evaluation </a:t>
            </a:r>
            <a:r>
              <a:rPr lang="de-DE" b="1" err="1"/>
              <a:t>Metric</a:t>
            </a:r>
            <a:r>
              <a:rPr lang="de-DE" b="1"/>
              <a:t>: </a:t>
            </a:r>
            <a:r>
              <a:rPr lang="de-DE"/>
              <a:t>PR-AUC</a:t>
            </a:r>
          </a:p>
          <a:p>
            <a:r>
              <a:rPr lang="de-DE" b="1"/>
              <a:t>Features: </a:t>
            </a:r>
            <a:r>
              <a:rPr lang="de-DE" err="1"/>
              <a:t>Aggregated</a:t>
            </a:r>
            <a:r>
              <a:rPr lang="de-DE"/>
              <a:t> </a:t>
            </a:r>
            <a:r>
              <a:rPr lang="de-DE" err="1"/>
              <a:t>numerical</a:t>
            </a:r>
            <a:r>
              <a:rPr lang="de-DE"/>
              <a:t> </a:t>
            </a:r>
            <a:r>
              <a:rPr lang="de-DE" err="1"/>
              <a:t>features</a:t>
            </a:r>
            <a:endParaRPr lang="de-DE"/>
          </a:p>
          <a:p>
            <a:pPr lvl="1"/>
            <a:r>
              <a:rPr lang="de-DE"/>
              <a:t>Total </a:t>
            </a:r>
            <a:r>
              <a:rPr lang="de-DE" err="1"/>
              <a:t>number</a:t>
            </a:r>
            <a:r>
              <a:rPr lang="de-DE"/>
              <a:t> of </a:t>
            </a:r>
            <a:r>
              <a:rPr lang="de-DE" err="1"/>
              <a:t>items</a:t>
            </a:r>
            <a:r>
              <a:rPr lang="de-DE"/>
              <a:t> in </a:t>
            </a:r>
            <a:r>
              <a:rPr lang="de-DE" err="1"/>
              <a:t>basket</a:t>
            </a:r>
            <a:endParaRPr lang="de-DE"/>
          </a:p>
          <a:p>
            <a:pPr lvl="1"/>
            <a:r>
              <a:rPr lang="de-DE"/>
              <a:t>Total </a:t>
            </a:r>
            <a:r>
              <a:rPr lang="de-DE" err="1"/>
              <a:t>value</a:t>
            </a:r>
            <a:r>
              <a:rPr lang="de-DE"/>
              <a:t> of </a:t>
            </a:r>
            <a:r>
              <a:rPr lang="de-DE" err="1"/>
              <a:t>basket</a:t>
            </a:r>
            <a:endParaRPr lang="de-DE"/>
          </a:p>
          <a:p>
            <a:pPr lvl="1"/>
            <a:r>
              <a:rPr lang="de-DE"/>
              <a:t>Maximum item </a:t>
            </a:r>
            <a:r>
              <a:rPr lang="de-DE" err="1"/>
              <a:t>price</a:t>
            </a:r>
            <a:endParaRPr lang="de-DE"/>
          </a:p>
          <a:p>
            <a:pPr lvl="1"/>
            <a:r>
              <a:rPr lang="de-DE"/>
              <a:t>Average item </a:t>
            </a:r>
            <a:r>
              <a:rPr lang="de-DE" err="1"/>
              <a:t>price</a:t>
            </a:r>
            <a:endParaRPr lang="de-DE"/>
          </a:p>
          <a:p>
            <a:pPr lvl="1"/>
            <a:r>
              <a:rPr lang="de-DE"/>
              <a:t>Number of </a:t>
            </a:r>
            <a:r>
              <a:rPr lang="de-DE" err="1"/>
              <a:t>items</a:t>
            </a:r>
            <a:r>
              <a:rPr lang="de-DE"/>
              <a:t> from </a:t>
            </a:r>
            <a:r>
              <a:rPr lang="de-DE" err="1"/>
              <a:t>category</a:t>
            </a:r>
            <a:r>
              <a:rPr lang="de-DE"/>
              <a:t> “Computers“</a:t>
            </a:r>
          </a:p>
          <a:p>
            <a:pPr lvl="1"/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140BC76-2597-5B33-3D67-7A72071AA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9462" y="1047084"/>
            <a:ext cx="11704507" cy="727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8980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B7B14-2EF8-CA84-41E4-20A51A19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F8CF27-7B40-6110-162C-09D8BC942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Baseline Model - Results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D2DBD9-89E3-0346-411F-612FA97CB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10080472" cy="35814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83540" indent="-383540"/>
            <a:r>
              <a:rPr lang="de-DE" b="1" dirty="0"/>
              <a:t>5-fold Cross Validation</a:t>
            </a:r>
            <a:r>
              <a:rPr lang="de-DE" dirty="0"/>
              <a:t>:                                               </a:t>
            </a:r>
            <a:r>
              <a:rPr lang="de-DE" b="1" dirty="0"/>
              <a:t>0.0543 (+/- 0.0091) PR-AUC</a:t>
            </a:r>
            <a:endParaRPr lang="de-DE" dirty="0"/>
          </a:p>
          <a:p>
            <a:pPr marL="383540" indent="-383540"/>
            <a:r>
              <a:rPr lang="de-DE" b="1" dirty="0"/>
              <a:t>Test Set </a:t>
            </a:r>
            <a:r>
              <a:rPr lang="de-DE" dirty="0"/>
              <a:t>(</a:t>
            </a:r>
            <a:r>
              <a:rPr lang="de-DE" dirty="0" err="1"/>
              <a:t>split</a:t>
            </a:r>
            <a:r>
              <a:rPr lang="de-DE" dirty="0"/>
              <a:t> from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):                              </a:t>
            </a:r>
            <a:r>
              <a:rPr lang="de-DE" b="1" dirty="0"/>
              <a:t>0.0510 PR-AUC</a:t>
            </a:r>
            <a:endParaRPr lang="de-DE" dirty="0"/>
          </a:p>
          <a:p>
            <a:pPr marL="383540" indent="-383540"/>
            <a:r>
              <a:rPr lang="de-DE" b="1" dirty="0"/>
              <a:t>Test Set </a:t>
            </a:r>
            <a:r>
              <a:rPr lang="de-DE" dirty="0"/>
              <a:t>(</a:t>
            </a:r>
            <a:r>
              <a:rPr lang="de-DE" dirty="0" err="1"/>
              <a:t>public</a:t>
            </a:r>
            <a:r>
              <a:rPr lang="de-DE" dirty="0"/>
              <a:t> </a:t>
            </a:r>
            <a:r>
              <a:rPr lang="de-DE" dirty="0" err="1"/>
              <a:t>leaderboard</a:t>
            </a:r>
            <a:r>
              <a:rPr lang="de-DE" dirty="0"/>
              <a:t> on </a:t>
            </a:r>
            <a:r>
              <a:rPr lang="de-DE" dirty="0" err="1"/>
              <a:t>ChallengeData</a:t>
            </a:r>
            <a:r>
              <a:rPr lang="de-DE" dirty="0"/>
              <a:t>):      </a:t>
            </a:r>
            <a:r>
              <a:rPr lang="de-DE" b="1" dirty="0"/>
              <a:t>0.0623 PR-AUC</a:t>
            </a:r>
          </a:p>
          <a:p>
            <a:endParaRPr lang="de-DE" b="1" dirty="0"/>
          </a:p>
          <a:p>
            <a:endParaRPr lang="de-DE" b="1" dirty="0"/>
          </a:p>
          <a:p>
            <a:endParaRPr lang="de-DE" b="1" dirty="0"/>
          </a:p>
          <a:p>
            <a:pPr marL="0" indent="0">
              <a:buNone/>
            </a:pP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dirty="0"/>
              <a:t> Benchmark 1: 0,017 PR-AUC </a:t>
            </a:r>
            <a:r>
              <a:rPr lang="de-DE" b="1" dirty="0"/>
              <a:t>&lt; </a:t>
            </a:r>
            <a:r>
              <a:rPr lang="de-DE" b="1" u="sng" dirty="0" err="1">
                <a:highlight>
                  <a:srgbClr val="FFFF00"/>
                </a:highlight>
              </a:rPr>
              <a:t>Our</a:t>
            </a:r>
            <a:r>
              <a:rPr lang="de-DE" b="1" u="sng" dirty="0">
                <a:highlight>
                  <a:srgbClr val="FFFF00"/>
                </a:highlight>
              </a:rPr>
              <a:t> Baseline Model</a:t>
            </a:r>
            <a:r>
              <a:rPr lang="de-DE" u="sng" dirty="0">
                <a:highlight>
                  <a:srgbClr val="FFFF00"/>
                </a:highlight>
              </a:rPr>
              <a:t> </a:t>
            </a:r>
            <a:r>
              <a:rPr lang="de-DE" b="1" dirty="0"/>
              <a:t>&lt;</a:t>
            </a:r>
            <a:r>
              <a:rPr lang="de-DE" dirty="0"/>
              <a:t> Benchmark 2: 0,1574 PR-AUC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b="1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55247FB-DECE-AEFE-AD6D-6AE3E69D3199}"/>
              </a:ext>
            </a:extLst>
          </p:cNvPr>
          <p:cNvSpPr txBox="1"/>
          <p:nvPr/>
        </p:nvSpPr>
        <p:spPr>
          <a:xfrm>
            <a:off x="3968181" y="5981700"/>
            <a:ext cx="748389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de-DE" sz="1600"/>
              <a:t>Source: </a:t>
            </a:r>
            <a:r>
              <a:rPr lang="x-none" sz="1600">
                <a:hlinkClick r:id="rId2"/>
              </a:rPr>
              <a:t>https://challengedata.ens.fr/challenges/104</a:t>
            </a:r>
            <a:r>
              <a:rPr lang="de-DE" sz="1600"/>
              <a:t> </a:t>
            </a:r>
            <a:endParaRPr lang="x-none" sz="1600"/>
          </a:p>
        </p:txBody>
      </p:sp>
    </p:spTree>
    <p:extLst>
      <p:ext uri="{BB962C8B-B14F-4D97-AF65-F5344CB8AC3E}">
        <p14:creationId xmlns:p14="http://schemas.microsoft.com/office/powerpoint/2010/main" val="117309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340C2-7DA2-EED8-B73F-550B62028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8EEEEB-04B1-2583-74FB-326B83159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Preprocessing</a:t>
            </a:r>
          </a:p>
        </p:txBody>
      </p:sp>
      <p:pic>
        <p:nvPicPr>
          <p:cNvPr id="9" name="Inhaltsplatzhalter 8" descr="Ein Bild, das Text, Screenshot, Display, Schrift enthält.&#10;&#10;KI-generierte Inhalte können fehlerhaft sein.">
            <a:extLst>
              <a:ext uri="{FF2B5EF4-FFF2-40B4-BE49-F238E27FC236}">
                <a16:creationId xmlns:a16="http://schemas.microsoft.com/office/drawing/2014/main" id="{DF5FC927-ECEE-B728-EFCC-C879AD52F2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232" b="138"/>
          <a:stretch>
            <a:fillRect/>
          </a:stretch>
        </p:blipFill>
        <p:spPr>
          <a:xfrm>
            <a:off x="1234115" y="1766295"/>
            <a:ext cx="10490307" cy="4738451"/>
          </a:xfrm>
          <a:prstGeom prst="rect">
            <a:avLst/>
          </a:prstGeom>
        </p:spPr>
      </p:pic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4331E4F5-4397-5E32-FB42-B5A55B963D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94139"/>
              </p:ext>
            </p:extLst>
          </p:nvPr>
        </p:nvGraphicFramePr>
        <p:xfrm>
          <a:off x="1426573" y="4375894"/>
          <a:ext cx="4984550" cy="132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275">
                  <a:extLst>
                    <a:ext uri="{9D8B030D-6E8A-4147-A177-3AD203B41FA5}">
                      <a16:colId xmlns:a16="http://schemas.microsoft.com/office/drawing/2014/main" val="4123227458"/>
                    </a:ext>
                  </a:extLst>
                </a:gridCol>
                <a:gridCol w="2492275">
                  <a:extLst>
                    <a:ext uri="{9D8B030D-6E8A-4147-A177-3AD203B41FA5}">
                      <a16:colId xmlns:a16="http://schemas.microsoft.com/office/drawing/2014/main" val="2141505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Categorical Feature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Numerical Vocabulary</a:t>
                      </a:r>
                      <a:endParaRPr lang="de-DE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805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 b="0" i="0" u="none" strike="noStrike" noProof="0">
                          <a:solidFill>
                            <a:schemeClr val="tx1"/>
                          </a:solidFill>
                          <a:latin typeface="Consolas"/>
                        </a:rPr>
                        <a:t>2HP ELITEBOOK 850V6</a:t>
                      </a:r>
                      <a:endParaRPr lang="de-DE" sz="1600" err="1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1168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 b="0" i="0" u="none" strike="noStrike" noProof="0">
                          <a:solidFill>
                            <a:schemeClr val="tx1"/>
                          </a:solidFill>
                          <a:latin typeface="Consolas"/>
                        </a:rPr>
                        <a:t>2LOGITECH PEBBLE M350 BLUETOOTH MOUSE</a:t>
                      </a:r>
                      <a:endParaRPr lang="de-DE" sz="1600" err="1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649559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9D806838-072B-DBE6-B5D7-E409C73A88A6}"/>
              </a:ext>
            </a:extLst>
          </p:cNvPr>
          <p:cNvSpPr txBox="1"/>
          <p:nvPr/>
        </p:nvSpPr>
        <p:spPr>
          <a:xfrm>
            <a:off x="1428750" y="5783035"/>
            <a:ext cx="9737271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/>
              <a:t>The </a:t>
            </a:r>
            <a:r>
              <a:rPr lang="de-DE" err="1"/>
              <a:t>numerically-encoded</a:t>
            </a:r>
            <a:r>
              <a:rPr lang="de-DE"/>
              <a:t> </a:t>
            </a:r>
            <a:r>
              <a:rPr lang="de-DE" err="1"/>
              <a:t>categorical</a:t>
            </a:r>
            <a:r>
              <a:rPr lang="de-DE"/>
              <a:t> </a:t>
            </a:r>
            <a:r>
              <a:rPr lang="de-DE" err="1"/>
              <a:t>data</a:t>
            </a:r>
            <a:r>
              <a:rPr lang="de-DE"/>
              <a:t> </a:t>
            </a:r>
            <a:r>
              <a:rPr lang="de-DE" err="1"/>
              <a:t>can</a:t>
            </a:r>
            <a:r>
              <a:rPr lang="de-DE"/>
              <a:t> </a:t>
            </a:r>
            <a:r>
              <a:rPr lang="de-DE" err="1"/>
              <a:t>be</a:t>
            </a:r>
            <a:r>
              <a:rPr lang="de-DE"/>
              <a:t> </a:t>
            </a:r>
            <a:r>
              <a:rPr lang="de-DE" err="1"/>
              <a:t>fed</a:t>
            </a:r>
            <a:r>
              <a:rPr lang="de-DE"/>
              <a:t> </a:t>
            </a:r>
            <a:r>
              <a:rPr lang="de-DE" err="1"/>
              <a:t>into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model's</a:t>
            </a:r>
            <a:r>
              <a:rPr lang="de-DE"/>
              <a:t> </a:t>
            </a:r>
            <a:r>
              <a:rPr lang="de-DE" err="1"/>
              <a:t>embedding</a:t>
            </a:r>
            <a:r>
              <a:rPr lang="de-DE"/>
              <a:t> </a:t>
            </a:r>
            <a:r>
              <a:rPr lang="de-DE" err="1"/>
              <a:t>layers</a:t>
            </a:r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2333EB3-4F44-B739-2BBE-9FDA13A03306}"/>
              </a:ext>
            </a:extLst>
          </p:cNvPr>
          <p:cNvSpPr txBox="1"/>
          <p:nvPr/>
        </p:nvSpPr>
        <p:spPr>
          <a:xfrm>
            <a:off x="1428750" y="3864428"/>
            <a:ext cx="973727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err="1"/>
              <a:t>Categorical</a:t>
            </a:r>
            <a:r>
              <a:rPr lang="de-DE" sz="2400"/>
              <a:t> Feature Encoding (</a:t>
            </a:r>
            <a:r>
              <a:rPr lang="de-DE" sz="2400" err="1"/>
              <a:t>Example</a:t>
            </a:r>
            <a:r>
              <a:rPr lang="de-DE" sz="2400"/>
              <a:t>)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E34538E-0A92-DA68-09B9-473F09CF4A1A}"/>
              </a:ext>
            </a:extLst>
          </p:cNvPr>
          <p:cNvSpPr txBox="1"/>
          <p:nvPr/>
        </p:nvSpPr>
        <p:spPr>
          <a:xfrm>
            <a:off x="1428750" y="1483178"/>
            <a:ext cx="973727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/>
              <a:t>Feature Engineering (</a:t>
            </a:r>
            <a:r>
              <a:rPr lang="de-DE" sz="2400" err="1"/>
              <a:t>Aggregated</a:t>
            </a:r>
            <a:r>
              <a:rPr lang="de-DE" sz="2400"/>
              <a:t> </a:t>
            </a:r>
            <a:r>
              <a:rPr lang="de-DE" sz="2400" err="1"/>
              <a:t>Numerical</a:t>
            </a:r>
            <a:r>
              <a:rPr lang="de-DE" sz="2400"/>
              <a:t> Features)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690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6032D-43E8-9A38-5B7B-1040036D2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09A5F2-97B5-5F2E-E72F-E71356E8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Models to </a:t>
            </a:r>
            <a:r>
              <a:rPr lang="de-DE" err="1"/>
              <a:t>compare</a:t>
            </a:r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530E50E-8C0E-71AE-1C69-77CCD69139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789" b="40860"/>
          <a:stretch>
            <a:fillRect/>
          </a:stretch>
        </p:blipFill>
        <p:spPr>
          <a:xfrm>
            <a:off x="1371600" y="2416399"/>
            <a:ext cx="4924795" cy="360709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33FC015-52A3-C0A7-891C-780176D56A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828" y="608526"/>
            <a:ext cx="10955010" cy="6579896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1DF97C0-E220-5680-8D7D-0AF45AA646C9}"/>
              </a:ext>
            </a:extLst>
          </p:cNvPr>
          <p:cNvSpPr txBox="1"/>
          <p:nvPr/>
        </p:nvSpPr>
        <p:spPr>
          <a:xfrm>
            <a:off x="7723031" y="1601551"/>
            <a:ext cx="30973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/>
              <a:t>2. </a:t>
            </a:r>
            <a:r>
              <a:rPr lang="de-DE" sz="2400" b="1" err="1"/>
              <a:t>XGBoost</a:t>
            </a:r>
            <a:endParaRPr lang="de-DE" sz="4400" b="1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0128E79-B37C-C1F9-5EE6-755311CA3E9C}"/>
              </a:ext>
            </a:extLst>
          </p:cNvPr>
          <p:cNvSpPr txBox="1"/>
          <p:nvPr/>
        </p:nvSpPr>
        <p:spPr>
          <a:xfrm>
            <a:off x="1219200" y="1601552"/>
            <a:ext cx="30973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/>
              <a:t>1. </a:t>
            </a:r>
            <a:r>
              <a:rPr lang="de-DE" sz="2400" b="1" err="1"/>
              <a:t>Embeddings</a:t>
            </a:r>
            <a:r>
              <a:rPr lang="de-DE" sz="2400" b="1"/>
              <a:t> Model</a:t>
            </a:r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019361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4FB9CE-D191-D74B-90C6-B9166AC10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ANN with </a:t>
            </a:r>
            <a:r>
              <a:rPr lang="de-DE" err="1"/>
              <a:t>Embeddings</a:t>
            </a:r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6B915A3-B67C-9376-2EA7-7C8B423A5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13" r="6914"/>
          <a:stretch>
            <a:fillRect/>
          </a:stretch>
        </p:blipFill>
        <p:spPr>
          <a:xfrm>
            <a:off x="1586922" y="895323"/>
            <a:ext cx="9170555" cy="6366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240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332E5-88E4-553F-F586-AFBB524CB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73D0BEA0-991C-BCC7-3F71-A132E16D7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14" r="19094"/>
          <a:stretch>
            <a:fillRect/>
          </a:stretch>
        </p:blipFill>
        <p:spPr>
          <a:xfrm>
            <a:off x="2850725" y="1234215"/>
            <a:ext cx="6642950" cy="5439635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3A6A8541-6365-D7D3-4F99-64B8B4ED3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ANN with </a:t>
            </a:r>
            <a:r>
              <a:rPr lang="de-DE" err="1"/>
              <a:t>Embeddings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646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2E5EC-81DA-8FFF-259D-DA6FBCFC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Results</a:t>
            </a:r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96961882-B52A-F2D0-A003-EFD346465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0284563"/>
              </p:ext>
            </p:extLst>
          </p:nvPr>
        </p:nvGraphicFramePr>
        <p:xfrm>
          <a:off x="2108200" y="1357170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B0606BB-79CE-C12D-DA34-BC6FE3196F57}"/>
              </a:ext>
            </a:extLst>
          </p:cNvPr>
          <p:cNvCxnSpPr>
            <a:cxnSpLocks/>
          </p:cNvCxnSpPr>
          <p:nvPr/>
        </p:nvCxnSpPr>
        <p:spPr>
          <a:xfrm>
            <a:off x="6926470" y="2827130"/>
            <a:ext cx="182267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7899130-5040-BDEB-F804-BE5C24AD99F2}"/>
              </a:ext>
            </a:extLst>
          </p:cNvPr>
          <p:cNvSpPr txBox="1"/>
          <p:nvPr/>
        </p:nvSpPr>
        <p:spPr>
          <a:xfrm>
            <a:off x="9907793" y="2688630"/>
            <a:ext cx="2630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Challenge Benchmark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89F2C00D-DDA0-291D-E8B5-CD18B9F55F39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9383057" y="2827130"/>
            <a:ext cx="52473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733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4B778-D95E-41B0-929F-06650E031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B895C-DD90-CE3D-11E4-F8080EEF1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Results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11F81AF-1BAD-1D7D-2F3B-81CCC53C3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71700"/>
            <a:ext cx="10110480" cy="3139440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DFCFA2F-0BCA-266C-48B9-7404D4AA6BF3}"/>
              </a:ext>
            </a:extLst>
          </p:cNvPr>
          <p:cNvSpPr/>
          <p:nvPr/>
        </p:nvSpPr>
        <p:spPr>
          <a:xfrm>
            <a:off x="1445342" y="3429000"/>
            <a:ext cx="9952212" cy="5766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874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C8895-A65D-2802-F9E8-4412EFC6D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Challenges and Errors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D416F7-0F34-336E-B768-7B86004FF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16956"/>
            <a:ext cx="9601200" cy="451952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83540" indent="-383540"/>
            <a:r>
              <a:rPr lang="de-DE" sz="1800" dirty="0"/>
              <a:t>How to deal with the </a:t>
            </a:r>
            <a:r>
              <a:rPr lang="de-DE" sz="1800" b="1" dirty="0" err="1"/>
              <a:t>categorical</a:t>
            </a:r>
            <a:r>
              <a:rPr lang="de-DE" sz="1800" dirty="0"/>
              <a:t> </a:t>
            </a:r>
            <a:r>
              <a:rPr lang="de-DE" sz="1800" dirty="0" err="1"/>
              <a:t>columns</a:t>
            </a:r>
            <a:r>
              <a:rPr lang="de-DE" sz="1800" dirty="0"/>
              <a:t> in the </a:t>
            </a:r>
            <a:r>
              <a:rPr lang="de-DE" sz="1800" dirty="0" err="1"/>
              <a:t>dataset</a:t>
            </a:r>
            <a:r>
              <a:rPr lang="de-DE" sz="1800" dirty="0"/>
              <a:t>?</a:t>
            </a:r>
          </a:p>
          <a:p>
            <a:pPr lvl="1" indent="-383540"/>
            <a:r>
              <a:rPr lang="de-DE" sz="1800" dirty="0" err="1"/>
              <a:t>Vocabularies</a:t>
            </a:r>
            <a:r>
              <a:rPr lang="de-DE" sz="1800" dirty="0"/>
              <a:t> + </a:t>
            </a:r>
            <a:r>
              <a:rPr lang="de-DE" sz="1800" dirty="0" err="1"/>
              <a:t>Embeddings</a:t>
            </a:r>
            <a:endParaRPr lang="de-DE" sz="1800" dirty="0"/>
          </a:p>
          <a:p>
            <a:pPr marL="383540" indent="-383540"/>
            <a:r>
              <a:rPr lang="de-DE" sz="1800" dirty="0"/>
              <a:t>How to deal with the </a:t>
            </a:r>
            <a:r>
              <a:rPr lang="de-DE" sz="1800" b="1" dirty="0" err="1"/>
              <a:t>varying</a:t>
            </a:r>
            <a:r>
              <a:rPr lang="de-DE" sz="1800" dirty="0"/>
              <a:t> </a:t>
            </a:r>
            <a:r>
              <a:rPr lang="de-DE" sz="1800" b="1" dirty="0" err="1"/>
              <a:t>number</a:t>
            </a:r>
            <a:r>
              <a:rPr lang="de-DE" sz="1800" dirty="0"/>
              <a:t> of </a:t>
            </a:r>
            <a:r>
              <a:rPr lang="de-DE" sz="1800" dirty="0" err="1"/>
              <a:t>items</a:t>
            </a:r>
            <a:r>
              <a:rPr lang="de-DE" sz="1800" dirty="0"/>
              <a:t> per </a:t>
            </a:r>
            <a:r>
              <a:rPr lang="de-DE" sz="1800" dirty="0" err="1"/>
              <a:t>basket</a:t>
            </a:r>
            <a:r>
              <a:rPr lang="de-DE" sz="1800" dirty="0"/>
              <a:t>?</a:t>
            </a:r>
          </a:p>
          <a:p>
            <a:pPr lvl="1" indent="-383540"/>
            <a:r>
              <a:rPr lang="de-DE" sz="1800" dirty="0"/>
              <a:t>Masked Mean Pooling</a:t>
            </a:r>
          </a:p>
          <a:p>
            <a:pPr marL="383540" indent="-383540"/>
            <a:r>
              <a:rPr lang="de-DE" sz="1800" dirty="0" err="1"/>
              <a:t>What</a:t>
            </a:r>
            <a:r>
              <a:rPr lang="de-DE" sz="1800" dirty="0"/>
              <a:t> </a:t>
            </a:r>
            <a:r>
              <a:rPr lang="de-DE" sz="1800" b="1" dirty="0" err="1"/>
              <a:t>parameters</a:t>
            </a:r>
            <a:r>
              <a:rPr lang="de-DE" sz="1800" dirty="0"/>
              <a:t> to </a:t>
            </a:r>
            <a:r>
              <a:rPr lang="de-DE" sz="1800" b="1" dirty="0" err="1"/>
              <a:t>optimize</a:t>
            </a:r>
            <a:r>
              <a:rPr lang="de-DE" sz="1800" dirty="0"/>
              <a:t> </a:t>
            </a:r>
            <a:r>
              <a:rPr lang="de-DE" sz="1800" dirty="0" err="1"/>
              <a:t>during</a:t>
            </a:r>
            <a:r>
              <a:rPr lang="de-DE" sz="1800" dirty="0"/>
              <a:t> an </a:t>
            </a:r>
            <a:r>
              <a:rPr lang="de-DE" sz="1800" dirty="0" err="1"/>
              <a:t>Optuna</a:t>
            </a:r>
            <a:r>
              <a:rPr lang="de-DE" sz="1800" dirty="0"/>
              <a:t> </a:t>
            </a:r>
            <a:r>
              <a:rPr lang="de-DE" sz="1800" dirty="0" err="1"/>
              <a:t>study</a:t>
            </a:r>
            <a:r>
              <a:rPr lang="de-DE" sz="1800" dirty="0"/>
              <a:t>?</a:t>
            </a:r>
          </a:p>
          <a:p>
            <a:pPr lvl="1" indent="-383540"/>
            <a:r>
              <a:rPr lang="de-DE" sz="1800" dirty="0"/>
              <a:t>Trial &amp; Error, </a:t>
            </a:r>
            <a:r>
              <a:rPr lang="de-DE" sz="1800" dirty="0" err="1"/>
              <a:t>Minimizing</a:t>
            </a:r>
            <a:r>
              <a:rPr lang="de-DE" sz="1800" dirty="0"/>
              <a:t> Parameter Space</a:t>
            </a:r>
          </a:p>
          <a:p>
            <a:pPr marL="383540" indent="-383540"/>
            <a:endParaRPr lang="de-DE" sz="1800" dirty="0"/>
          </a:p>
          <a:p>
            <a:pPr marL="383540" indent="-383540"/>
            <a:r>
              <a:rPr lang="de-DE" sz="1800" b="1" dirty="0" err="1"/>
              <a:t>Improving</a:t>
            </a:r>
            <a:r>
              <a:rPr lang="de-DE" sz="1800" dirty="0"/>
              <a:t> </a:t>
            </a:r>
            <a:r>
              <a:rPr lang="de-DE" sz="1800" b="1" dirty="0" err="1"/>
              <a:t>results</a:t>
            </a:r>
            <a:r>
              <a:rPr lang="de-DE" sz="1800" dirty="0"/>
              <a:t> of </a:t>
            </a:r>
            <a:r>
              <a:rPr lang="de-DE" sz="1800" dirty="0" err="1"/>
              <a:t>embedding</a:t>
            </a:r>
            <a:r>
              <a:rPr lang="de-DE" sz="1800" dirty="0"/>
              <a:t> </a:t>
            </a:r>
            <a:r>
              <a:rPr lang="de-DE" sz="1800" dirty="0" err="1"/>
              <a:t>model</a:t>
            </a:r>
            <a:endParaRPr lang="de-DE" sz="1800" dirty="0"/>
          </a:p>
          <a:p>
            <a:pPr lvl="1" indent="-383540"/>
            <a:r>
              <a:rPr lang="de-DE" sz="1800" dirty="0" err="1"/>
              <a:t>Tried</a:t>
            </a:r>
            <a:r>
              <a:rPr lang="de-DE" sz="1800" dirty="0"/>
              <a:t> </a:t>
            </a:r>
            <a:r>
              <a:rPr lang="de-DE" sz="1800" dirty="0" err="1"/>
              <a:t>Oversampling</a:t>
            </a:r>
            <a:r>
              <a:rPr lang="de-DE" sz="1800" dirty="0"/>
              <a:t>/</a:t>
            </a:r>
            <a:r>
              <a:rPr lang="de-DE" sz="1800" dirty="0" err="1"/>
              <a:t>Undersampling</a:t>
            </a:r>
            <a:r>
              <a:rPr lang="de-DE" sz="1800" dirty="0"/>
              <a:t> </a:t>
            </a:r>
            <a:r>
              <a:rPr lang="de-DE" sz="1800" i="0" dirty="0">
                <a:sym typeface="Wingdings" panose="05000000000000000000" pitchFamily="2" charset="2"/>
              </a:rPr>
              <a:t></a:t>
            </a:r>
            <a:r>
              <a:rPr lang="de-DE" sz="1800" i="0" dirty="0"/>
              <a:t> </a:t>
            </a:r>
            <a:r>
              <a:rPr lang="de-DE" sz="1800" dirty="0"/>
              <a:t>no </a:t>
            </a:r>
            <a:r>
              <a:rPr lang="de-DE" sz="1800" dirty="0" err="1"/>
              <a:t>improvements</a:t>
            </a:r>
            <a:endParaRPr lang="de-DE" sz="1800" dirty="0"/>
          </a:p>
          <a:p>
            <a:pPr lvl="1" indent="-383540"/>
            <a:r>
              <a:rPr lang="de-DE" sz="1800" dirty="0"/>
              <a:t>Hyperparameter </a:t>
            </a:r>
            <a:r>
              <a:rPr lang="de-DE" sz="1800" dirty="0" err="1"/>
              <a:t>Optimization</a:t>
            </a:r>
            <a:r>
              <a:rPr lang="de-DE" sz="1800" dirty="0"/>
              <a:t> </a:t>
            </a:r>
            <a:r>
              <a:rPr lang="de-DE" sz="1800" i="0" dirty="0">
                <a:sym typeface="Wingdings" panose="05000000000000000000" pitchFamily="2" charset="2"/>
              </a:rPr>
              <a:t></a:t>
            </a:r>
            <a:r>
              <a:rPr lang="de-DE" sz="1800" dirty="0"/>
              <a:t> </a:t>
            </a:r>
            <a:r>
              <a:rPr lang="de-DE" sz="1800" dirty="0" err="1"/>
              <a:t>only</a:t>
            </a:r>
            <a:r>
              <a:rPr lang="de-DE" sz="1800" dirty="0"/>
              <a:t> small </a:t>
            </a:r>
            <a:r>
              <a:rPr lang="de-DE" sz="1800" dirty="0" err="1"/>
              <a:t>improvements</a:t>
            </a:r>
            <a:endParaRPr lang="de-DE" sz="1800" dirty="0"/>
          </a:p>
          <a:p>
            <a:pPr marL="816610" lvl="1" indent="-285750">
              <a:buFont typeface="Wingdings" panose="05000000000000000000" pitchFamily="2" charset="2"/>
              <a:buChar char="à"/>
            </a:pPr>
            <a:r>
              <a:rPr lang="de-DE" sz="1800" dirty="0" err="1">
                <a:sym typeface="Wingdings" panose="05000000000000000000" pitchFamily="2" charset="2"/>
              </a:rPr>
              <a:t>XGBoost</a:t>
            </a:r>
            <a:endParaRPr lang="de-DE" sz="1800" dirty="0">
              <a:sym typeface="Wingdings" panose="05000000000000000000" pitchFamily="2" charset="2"/>
            </a:endParaRPr>
          </a:p>
          <a:p>
            <a:pPr marL="286258" indent="-285750"/>
            <a:r>
              <a:rPr lang="de-DE" sz="1800" b="1" dirty="0"/>
              <a:t>Ensemble</a:t>
            </a:r>
            <a:r>
              <a:rPr lang="de-DE" sz="1800" dirty="0"/>
              <a:t> </a:t>
            </a:r>
            <a:r>
              <a:rPr lang="de-DE" sz="1800" b="1" dirty="0"/>
              <a:t>Approach</a:t>
            </a:r>
            <a:r>
              <a:rPr lang="de-DE" sz="1800" dirty="0"/>
              <a:t> (ANN + </a:t>
            </a:r>
            <a:r>
              <a:rPr lang="de-DE" sz="1800" dirty="0" err="1"/>
              <a:t>XGBoost</a:t>
            </a:r>
            <a:r>
              <a:rPr lang="de-DE" sz="1800" dirty="0"/>
              <a:t>) </a:t>
            </a:r>
            <a:r>
              <a:rPr lang="de-DE" sz="1800" dirty="0">
                <a:sym typeface="Wingdings" panose="05000000000000000000" pitchFamily="2" charset="2"/>
              </a:rPr>
              <a:t> no </a:t>
            </a:r>
            <a:r>
              <a:rPr lang="de-DE" sz="1800" dirty="0" err="1">
                <a:sym typeface="Wingdings" panose="05000000000000000000" pitchFamily="2" charset="2"/>
              </a:rPr>
              <a:t>improvements</a:t>
            </a:r>
            <a:endParaRPr lang="de-DE" sz="1800" dirty="0"/>
          </a:p>
          <a:p>
            <a:pPr marL="383540" indent="-383540"/>
            <a:endParaRPr lang="de-DE" sz="1800" dirty="0"/>
          </a:p>
          <a:p>
            <a:pPr marL="383540" indent="-383540"/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766952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9BDB3B-E103-1938-5EB6-4EE789E9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Discussion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04F7FE-B8EF-1CB9-7DD8-205FA21A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383540" indent="-383540"/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improved</a:t>
            </a:r>
            <a:r>
              <a:rPr lang="de-DE" dirty="0"/>
              <a:t> the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 err="1"/>
              <a:t>compared</a:t>
            </a:r>
            <a:r>
              <a:rPr lang="de-DE" dirty="0"/>
              <a:t> to Baseline</a:t>
            </a:r>
          </a:p>
          <a:p>
            <a:pPr marL="913892" lvl="1" indent="-383540"/>
            <a:r>
              <a:rPr lang="de-DE" dirty="0"/>
              <a:t>0.06 to 0.17 PR-AUC</a:t>
            </a:r>
          </a:p>
          <a:p>
            <a:pPr marL="383540" indent="-383540"/>
            <a:r>
              <a:rPr lang="de-DE" dirty="0"/>
              <a:t>Tree-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performed</a:t>
            </a:r>
            <a:r>
              <a:rPr lang="de-DE" dirty="0"/>
              <a:t> even better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913892" lvl="1" indent="-383540"/>
            <a:r>
              <a:rPr lang="de-DE" dirty="0" err="1"/>
              <a:t>Overfitting</a:t>
            </a:r>
            <a:r>
              <a:rPr lang="de-DE" dirty="0"/>
              <a:t> of Embedding Model? (Drop in PR-AUC on Test Set)</a:t>
            </a:r>
          </a:p>
        </p:txBody>
      </p:sp>
    </p:spTree>
    <p:extLst>
      <p:ext uri="{BB962C8B-B14F-4D97-AF65-F5344CB8AC3E}">
        <p14:creationId xmlns:p14="http://schemas.microsoft.com/office/powerpoint/2010/main" val="27991527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B7833-5FC1-335A-3572-0AAA44EF2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Conclusion</a:t>
            </a:r>
            <a:r>
              <a:rPr lang="de-DE"/>
              <a:t> and Future 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8319F9-B1EE-2735-FF16-43CC580C9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err="1"/>
              <a:t>We</a:t>
            </a:r>
            <a:r>
              <a:rPr lang="de-DE"/>
              <a:t> </a:t>
            </a:r>
            <a:r>
              <a:rPr lang="de-DE" err="1"/>
              <a:t>were</a:t>
            </a:r>
            <a:r>
              <a:rPr lang="de-DE"/>
              <a:t> </a:t>
            </a:r>
            <a:r>
              <a:rPr lang="de-DE" err="1"/>
              <a:t>able</a:t>
            </a:r>
            <a:r>
              <a:rPr lang="de-DE"/>
              <a:t> to </a:t>
            </a:r>
            <a:r>
              <a:rPr lang="de-DE" err="1"/>
              <a:t>train</a:t>
            </a:r>
            <a:r>
              <a:rPr lang="de-DE"/>
              <a:t> a </a:t>
            </a:r>
            <a:r>
              <a:rPr lang="de-DE" err="1"/>
              <a:t>model</a:t>
            </a:r>
            <a:r>
              <a:rPr lang="de-DE"/>
              <a:t> </a:t>
            </a:r>
            <a:r>
              <a:rPr lang="de-DE" err="1"/>
              <a:t>that</a:t>
            </a:r>
            <a:r>
              <a:rPr lang="de-DE"/>
              <a:t> </a:t>
            </a:r>
            <a:r>
              <a:rPr lang="de-DE" err="1"/>
              <a:t>performs</a:t>
            </a:r>
            <a:r>
              <a:rPr lang="de-DE"/>
              <a:t> better </a:t>
            </a:r>
            <a:r>
              <a:rPr lang="de-DE" err="1"/>
              <a:t>than</a:t>
            </a:r>
            <a:r>
              <a:rPr lang="de-DE"/>
              <a:t> the Benchmark on the Public Test Set</a:t>
            </a:r>
          </a:p>
          <a:p>
            <a:pPr lvl="1"/>
            <a:r>
              <a:rPr lang="de-DE"/>
              <a:t>Rank 102: 0.1895 PR-AUC (</a:t>
            </a:r>
            <a:r>
              <a:rPr lang="de-DE" err="1"/>
              <a:t>XGBoost</a:t>
            </a:r>
            <a:r>
              <a:rPr lang="de-DE"/>
              <a:t>)</a:t>
            </a:r>
          </a:p>
          <a:p>
            <a:pPr lvl="1"/>
            <a:r>
              <a:rPr lang="de-DE"/>
              <a:t>Rank 225: Benchmark</a:t>
            </a:r>
          </a:p>
          <a:p>
            <a:endParaRPr lang="de-DE"/>
          </a:p>
          <a:p>
            <a:endParaRPr lang="de-DE"/>
          </a:p>
          <a:p>
            <a:pPr marL="0" indent="0">
              <a:buNone/>
            </a:pPr>
            <a:r>
              <a:rPr lang="de-DE" b="1"/>
              <a:t>Future Work:</a:t>
            </a:r>
          </a:p>
          <a:p>
            <a:r>
              <a:rPr lang="de-DE"/>
              <a:t>Try </a:t>
            </a:r>
            <a:r>
              <a:rPr lang="de-DE" err="1"/>
              <a:t>other</a:t>
            </a:r>
            <a:r>
              <a:rPr lang="de-DE"/>
              <a:t> </a:t>
            </a:r>
            <a:r>
              <a:rPr lang="de-DE" err="1"/>
              <a:t>tree-based</a:t>
            </a:r>
            <a:r>
              <a:rPr lang="de-DE"/>
              <a:t> </a:t>
            </a:r>
            <a:r>
              <a:rPr lang="de-DE" err="1"/>
              <a:t>algorithms</a:t>
            </a:r>
            <a:endParaRPr lang="de-DE"/>
          </a:p>
          <a:p>
            <a:r>
              <a:rPr lang="de-DE" err="1"/>
              <a:t>Refine</a:t>
            </a:r>
            <a:r>
              <a:rPr lang="de-DE"/>
              <a:t> </a:t>
            </a:r>
            <a:r>
              <a:rPr lang="de-DE" err="1"/>
              <a:t>embedding</a:t>
            </a:r>
            <a:r>
              <a:rPr lang="de-DE"/>
              <a:t> </a:t>
            </a:r>
            <a:r>
              <a:rPr lang="de-DE" err="1"/>
              <a:t>approach</a:t>
            </a:r>
            <a:endParaRPr lang="de-DE"/>
          </a:p>
          <a:p>
            <a:pPr lvl="1"/>
            <a:r>
              <a:rPr lang="de-DE"/>
              <a:t>Maybe </a:t>
            </a:r>
            <a:r>
              <a:rPr lang="de-DE" err="1"/>
              <a:t>transfer</a:t>
            </a:r>
            <a:r>
              <a:rPr lang="de-DE"/>
              <a:t> </a:t>
            </a:r>
            <a:r>
              <a:rPr lang="de-DE" err="1"/>
              <a:t>learning</a:t>
            </a:r>
            <a:r>
              <a:rPr lang="de-DE"/>
              <a:t>?</a:t>
            </a:r>
          </a:p>
          <a:p>
            <a:endParaRPr lang="de-DE"/>
          </a:p>
          <a:p>
            <a:pPr marL="0" indent="0">
              <a:buNone/>
            </a:pPr>
            <a:endParaRPr lang="de-DE"/>
          </a:p>
          <a:p>
            <a:pPr marL="0" indent="0">
              <a:buNone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070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C593B4-C843-4563-0C63-614197E97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Thank</a:t>
            </a:r>
            <a:r>
              <a:rPr lang="de-DE"/>
              <a:t> </a:t>
            </a:r>
            <a:r>
              <a:rPr lang="de-DE" err="1"/>
              <a:t>you</a:t>
            </a:r>
            <a:r>
              <a:rPr lang="de-DE"/>
              <a:t>! </a:t>
            </a:r>
            <a:r>
              <a:rPr lang="de-DE">
                <a:sym typeface="Wingdings" panose="05000000000000000000" pitchFamily="2" charset="2"/>
              </a:rPr>
              <a:t></a:t>
            </a:r>
            <a:endParaRPr lang="de-DE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E971641E-BE49-5561-84A1-83213769A722}"/>
              </a:ext>
            </a:extLst>
          </p:cNvPr>
          <p:cNvSpPr txBox="1">
            <a:spLocks/>
          </p:cNvSpPr>
          <p:nvPr/>
        </p:nvSpPr>
        <p:spPr>
          <a:xfrm>
            <a:off x="1295400" y="2748362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b="1"/>
              <a:t>Q &amp; A</a:t>
            </a:r>
          </a:p>
        </p:txBody>
      </p:sp>
      <p:pic>
        <p:nvPicPr>
          <p:cNvPr id="5" name="Grafik 4" descr="Fragen Silhouette">
            <a:extLst>
              <a:ext uri="{FF2B5EF4-FFF2-40B4-BE49-F238E27FC236}">
                <a16:creationId xmlns:a16="http://schemas.microsoft.com/office/drawing/2014/main" id="{BC6AD024-B19C-FDC0-F3C9-FA3A6B55C2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3555" y="3928479"/>
            <a:ext cx="1764890" cy="176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792094"/>
      </p:ext>
    </p:extLst>
  </p:cSld>
  <p:clrMapOvr>
    <a:masterClrMapping/>
  </p:clrMapOvr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TM10001105[[fn=Ausschnitt]]</Template>
  <TotalTime>0</TotalTime>
  <Words>578</Words>
  <Application>Microsoft Office PowerPoint</Application>
  <PresentationFormat>Breitbild</PresentationFormat>
  <Paragraphs>118</Paragraphs>
  <Slides>19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3" baseType="lpstr">
      <vt:lpstr>Consolas</vt:lpstr>
      <vt:lpstr>Franklin Gothic Book</vt:lpstr>
      <vt:lpstr>Wingdings</vt:lpstr>
      <vt:lpstr>Ausschnitt</vt:lpstr>
      <vt:lpstr>“How to detect a niche of fraudsters?” by BNP Paribas PF</vt:lpstr>
      <vt:lpstr>Agenda</vt:lpstr>
      <vt:lpstr>Introduction Fraud Detection</vt:lpstr>
      <vt:lpstr>Literature Review</vt:lpstr>
      <vt:lpstr>Dataset Characteristics</vt:lpstr>
      <vt:lpstr>Dataset Characteristics</vt:lpstr>
      <vt:lpstr>Dataset Characteristics</vt:lpstr>
      <vt:lpstr>Baseline Model</vt:lpstr>
      <vt:lpstr>Baseline Model - Results</vt:lpstr>
      <vt:lpstr>Preprocessing</vt:lpstr>
      <vt:lpstr>Models to compare</vt:lpstr>
      <vt:lpstr>ANN with Embeddings</vt:lpstr>
      <vt:lpstr>ANN with Embeddings</vt:lpstr>
      <vt:lpstr>Results</vt:lpstr>
      <vt:lpstr>Results</vt:lpstr>
      <vt:lpstr>Challenges and Errors</vt:lpstr>
      <vt:lpstr>Discussion</vt:lpstr>
      <vt:lpstr>Conclusion and Future Work</vt:lpstr>
      <vt:lpstr>Thank you! 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Hillekamp</dc:creator>
  <cp:lastModifiedBy>Tom Hillekamp</cp:lastModifiedBy>
  <cp:revision>1</cp:revision>
  <dcterms:created xsi:type="dcterms:W3CDTF">2026-06-14T15:06:48Z</dcterms:created>
  <dcterms:modified xsi:type="dcterms:W3CDTF">2026-06-25T16:45:28Z</dcterms:modified>
</cp:coreProperties>
</file>