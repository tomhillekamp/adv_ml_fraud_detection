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7" r:id="rId1"/>
  </p:sldMasterIdLst>
  <p:sldIdLst>
    <p:sldId id="256" r:id="rId2"/>
    <p:sldId id="257" r:id="rId3"/>
    <p:sldId id="258" r:id="rId4"/>
    <p:sldId id="259" r:id="rId5"/>
    <p:sldId id="260" r:id="rId6"/>
    <p:sldId id="272" r:id="rId7"/>
    <p:sldId id="273" r:id="rId8"/>
    <p:sldId id="261" r:id="rId9"/>
    <p:sldId id="270" r:id="rId10"/>
    <p:sldId id="274" r:id="rId11"/>
    <p:sldId id="269" r:id="rId12"/>
    <p:sldId id="262" r:id="rId13"/>
    <p:sldId id="275" r:id="rId14"/>
    <p:sldId id="263" r:id="rId15"/>
    <p:sldId id="271" r:id="rId16"/>
    <p:sldId id="264" r:id="rId17"/>
    <p:sldId id="265" r:id="rId18"/>
    <p:sldId id="266" r:id="rId19"/>
    <p:sldId id="2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4E4E8-AC38-010A-8AF7-C2FF8938230D}" v="487" dt="2026-06-17T11:35:19.447"/>
    <p1510:client id="{61B36909-29AD-47FF-994D-4BDC2FDB6F0A}" v="1551" dt="2026-06-17T12:14:18.4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98" autoAdjust="0"/>
    <p:restoredTop sz="94660"/>
  </p:normalViewPr>
  <p:slideViewPr>
    <p:cSldViewPr snapToGrid="0">
      <p:cViewPr>
        <p:scale>
          <a:sx n="81" d="100"/>
          <a:sy n="81" d="100"/>
        </p:scale>
        <p:origin x="576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/>
              <a:t>PR-AUC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Tabelle1!$A$2:$A$3</c:f>
              <c:strCache>
                <c:ptCount val="2"/>
                <c:pt idx="0">
                  <c:v>Validation Set</c:v>
                </c:pt>
                <c:pt idx="1">
                  <c:v>Public Test Set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6.6799999999999998E-2</c:v>
                </c:pt>
                <c:pt idx="1">
                  <c:v>6.2300000000000001E-2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54A-42A3-8483-7A725680CDE2}"/>
            </c:ext>
          </c:extLst>
        </c:ser>
        <c:ser>
          <c:idx val="1"/>
          <c:order val="1"/>
          <c:tx>
            <c:strRef>
              <c:f>Tabelle1!$C$1</c:f>
              <c:strCache>
                <c:ptCount val="1"/>
                <c:pt idx="0">
                  <c:v>Embeddings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Tabelle1!$A$2:$A$3</c:f>
              <c:strCache>
                <c:ptCount val="2"/>
                <c:pt idx="0">
                  <c:v>Validation Set</c:v>
                </c:pt>
                <c:pt idx="1">
                  <c:v>Public Test Set</c:v>
                </c:pt>
              </c:strCache>
            </c:strRef>
          </c:cat>
          <c:val>
            <c:numRef>
              <c:f>Tabelle1!$C$2:$C$3</c:f>
              <c:numCache>
                <c:formatCode>General</c:formatCode>
                <c:ptCount val="2"/>
                <c:pt idx="0">
                  <c:v>0.17269999999999999</c:v>
                </c:pt>
                <c:pt idx="1">
                  <c:v>0.13739999999999999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54A-42A3-8483-7A725680CDE2}"/>
            </c:ext>
          </c:extLst>
        </c:ser>
        <c:ser>
          <c:idx val="2"/>
          <c:order val="2"/>
          <c:tx>
            <c:strRef>
              <c:f>Tabelle1!$D$1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Tabelle1!$A$2:$A$3</c:f>
              <c:strCache>
                <c:ptCount val="2"/>
                <c:pt idx="0">
                  <c:v>Validation Set</c:v>
                </c:pt>
                <c:pt idx="1">
                  <c:v>Public Test Set</c:v>
                </c:pt>
              </c:strCache>
            </c:strRef>
          </c:cat>
          <c:val>
            <c:numRef>
              <c:f>Tabelle1!$D$2:$D$3</c:f>
              <c:numCache>
                <c:formatCode>General</c:formatCode>
                <c:ptCount val="2"/>
                <c:pt idx="0">
                  <c:v>0.1769</c:v>
                </c:pt>
                <c:pt idx="1">
                  <c:v>0.1895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54A-42A3-8483-7A725680C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344099824"/>
        <c:axId val="1344098864"/>
      </c:barChart>
      <c:catAx>
        <c:axId val="13440998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44098864"/>
        <c:crosses val="autoZero"/>
        <c:auto val="1"/>
        <c:lblAlgn val="ctr"/>
        <c:lblOffset val="100"/>
        <c:noMultiLvlLbl val="0"/>
      </c:catAx>
      <c:valAx>
        <c:axId val="1344098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34409982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8803687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310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-&#10;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65406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1986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6299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43692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1813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20530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89318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14424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8234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98380DB-4D18-4E8E-ABC4-18847E13405E}" type="datetimeFigureOut">
              <a:rPr lang="de-DE" smtClean="0"/>
              <a:t>17.06.2026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E62CB23B-7B3D-45AF-B3BA-A05BC4B62EE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5251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9" r:id="rId2"/>
    <p:sldLayoutId id="2147483740" r:id="rId3"/>
    <p:sldLayoutId id="2147483741" r:id="rId4"/>
    <p:sldLayoutId id="2147483742" r:id="rId5"/>
    <p:sldLayoutId id="2147483743" r:id="rId6"/>
    <p:sldLayoutId id="2147483744" r:id="rId7"/>
    <p:sldLayoutId id="2147483745" r:id="rId8"/>
    <p:sldLayoutId id="2147483746" r:id="rId9"/>
    <p:sldLayoutId id="2147483747" r:id="rId10"/>
    <p:sldLayoutId id="214748374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challengedata.ens.fr/challenges/104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502.08960" TargetMode="External"/><Relationship Id="rId2" Type="http://schemas.openxmlformats.org/officeDocument/2006/relationships/hyperlink" Target="https://www.nature.com/articles/s41598-023-38304-5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l.acm.org/doi/fullHtml/10.1145/3654522.3654588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challengedata.ens.fr/challenges/104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EFB104D-ABAC-163E-96C1-8D053FB213C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5400" dirty="0"/>
              <a:t>“How to detect a niche of fraudsters?”</a:t>
            </a:r>
            <a:br>
              <a:rPr lang="en-US" dirty="0"/>
            </a:br>
            <a:r>
              <a:rPr lang="en-US" sz="2400" dirty="0"/>
              <a:t>by BNP Paribas PF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82C1732-CB35-68D0-23B1-2FCE7763E0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endParaRPr lang="de-DE" dirty="0"/>
          </a:p>
          <a:p>
            <a:endParaRPr lang="de-DE" dirty="0"/>
          </a:p>
          <a:p>
            <a:r>
              <a:rPr lang="de-DE" dirty="0" err="1"/>
              <a:t>Advanced</a:t>
            </a:r>
            <a:r>
              <a:rPr lang="de-DE" dirty="0"/>
              <a:t> Machine Learning – Open Campus SS 2026</a:t>
            </a:r>
          </a:p>
          <a:p>
            <a:r>
              <a:rPr lang="de-DE" sz="2100" b="1" dirty="0"/>
              <a:t>Alexander Neumann &amp; Tom Hillekamp</a:t>
            </a:r>
          </a:p>
        </p:txBody>
      </p:sp>
    </p:spTree>
    <p:extLst>
      <p:ext uri="{BB962C8B-B14F-4D97-AF65-F5344CB8AC3E}">
        <p14:creationId xmlns:p14="http://schemas.microsoft.com/office/powerpoint/2010/main" val="2713451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5244E1-45BA-9E46-9E6D-451BE335C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04D0F6B-4B9B-8688-7971-D08CA1573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 err="1"/>
              <a:t>Introduction</a:t>
            </a:r>
            <a:endParaRPr lang="de-DE" dirty="0"/>
          </a:p>
          <a:p>
            <a:r>
              <a:rPr lang="de-DE" dirty="0" err="1"/>
              <a:t>Literature</a:t>
            </a:r>
            <a:r>
              <a:rPr lang="de-DE" dirty="0"/>
              <a:t> Review</a:t>
            </a:r>
          </a:p>
          <a:p>
            <a:r>
              <a:rPr lang="de-DE" dirty="0"/>
              <a:t>Dataset </a:t>
            </a:r>
            <a:r>
              <a:rPr lang="de-DE" dirty="0" err="1"/>
              <a:t>Characeristics</a:t>
            </a:r>
            <a:endParaRPr lang="de-DE" dirty="0"/>
          </a:p>
          <a:p>
            <a:r>
              <a:rPr lang="de-DE" dirty="0"/>
              <a:t>Baseline Model</a:t>
            </a:r>
          </a:p>
          <a:p>
            <a:r>
              <a:rPr lang="de-DE" dirty="0"/>
              <a:t>Model Definition and Evaluation</a:t>
            </a:r>
          </a:p>
          <a:p>
            <a:r>
              <a:rPr lang="de-DE" dirty="0"/>
              <a:t>Results</a:t>
            </a:r>
          </a:p>
          <a:p>
            <a:r>
              <a:rPr lang="de-DE" dirty="0"/>
              <a:t>Challenges &amp; Errors</a:t>
            </a:r>
          </a:p>
          <a:p>
            <a:r>
              <a:rPr lang="de-DE" dirty="0" err="1"/>
              <a:t>Discussion</a:t>
            </a:r>
            <a:endParaRPr lang="de-DE" dirty="0"/>
          </a:p>
          <a:p>
            <a:r>
              <a:rPr lang="de-DE" dirty="0" err="1"/>
              <a:t>Conclusion</a:t>
            </a:r>
            <a:endParaRPr lang="de-DE" dirty="0"/>
          </a:p>
          <a:p>
            <a:r>
              <a:rPr lang="de-DE" dirty="0"/>
              <a:t>Q &amp; A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243506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EBA526-63E5-1E6C-7352-B04DDA829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2649C9-3AC0-9F97-C8EB-666B9E162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b="1" dirty="0"/>
              <a:t>Challenge Goal: </a:t>
            </a:r>
            <a:r>
              <a:rPr lang="en-US" dirty="0"/>
              <a:t>Find the best way to process and </a:t>
            </a:r>
            <a:r>
              <a:rPr lang="en-US" dirty="0" err="1"/>
              <a:t>analyse</a:t>
            </a:r>
            <a:r>
              <a:rPr lang="en-US" dirty="0"/>
              <a:t> shopping basket data from a retailer partner in order to detect fraud cases</a:t>
            </a:r>
          </a:p>
          <a:p>
            <a:pPr lvl="1"/>
            <a:r>
              <a:rPr lang="en-US" dirty="0"/>
              <a:t>Found on </a:t>
            </a:r>
            <a:r>
              <a:rPr lang="en-US" dirty="0" err="1"/>
              <a:t>ChallengeData</a:t>
            </a:r>
            <a:r>
              <a:rPr lang="en-US" dirty="0"/>
              <a:t>: </a:t>
            </a:r>
            <a:r>
              <a:rPr lang="x-none" dirty="0">
                <a:hlinkClick r:id="rId2"/>
              </a:rPr>
              <a:t>https://challengedata.ens.fr/challenges/104</a:t>
            </a:r>
            <a:endParaRPr lang="de-DE" dirty="0"/>
          </a:p>
          <a:p>
            <a:pPr lvl="1"/>
            <a:r>
              <a:rPr lang="de-DE" dirty="0"/>
              <a:t>Problem: </a:t>
            </a:r>
            <a:r>
              <a:rPr lang="de-DE" dirty="0" err="1"/>
              <a:t>Fraudsters</a:t>
            </a:r>
            <a:r>
              <a:rPr lang="de-DE" dirty="0"/>
              <a:t> </a:t>
            </a:r>
            <a:r>
              <a:rPr lang="de-DE" dirty="0" err="1"/>
              <a:t>use</a:t>
            </a:r>
            <a:r>
              <a:rPr lang="de-DE" dirty="0"/>
              <a:t> “Buy </a:t>
            </a:r>
            <a:r>
              <a:rPr lang="de-DE" dirty="0" err="1"/>
              <a:t>now</a:t>
            </a:r>
            <a:r>
              <a:rPr lang="de-DE" dirty="0"/>
              <a:t> – </a:t>
            </a:r>
            <a:r>
              <a:rPr lang="de-DE" dirty="0" err="1"/>
              <a:t>pay</a:t>
            </a:r>
            <a:r>
              <a:rPr lang="de-DE" dirty="0"/>
              <a:t> </a:t>
            </a:r>
            <a:r>
              <a:rPr lang="de-DE" dirty="0" err="1"/>
              <a:t>later</a:t>
            </a:r>
            <a:r>
              <a:rPr lang="de-DE" dirty="0"/>
              <a:t>“ but </a:t>
            </a:r>
            <a:r>
              <a:rPr lang="de-DE" dirty="0" err="1"/>
              <a:t>never</a:t>
            </a:r>
            <a:r>
              <a:rPr lang="de-DE" dirty="0"/>
              <a:t> </a:t>
            </a:r>
            <a:r>
              <a:rPr lang="de-DE" dirty="0" err="1"/>
              <a:t>pay</a:t>
            </a:r>
            <a:endParaRPr lang="de-DE" dirty="0"/>
          </a:p>
          <a:p>
            <a:pPr marL="530352" lvl="1" indent="0">
              <a:buNone/>
            </a:pPr>
            <a:endParaRPr lang="en-US" dirty="0"/>
          </a:p>
          <a:p>
            <a:r>
              <a:rPr lang="en-US" b="1" dirty="0"/>
              <a:t>Task</a:t>
            </a:r>
            <a:r>
              <a:rPr lang="en-US" dirty="0"/>
              <a:t>: Classification – Fraud/Not Fraud</a:t>
            </a:r>
          </a:p>
          <a:p>
            <a:r>
              <a:rPr lang="en-US" b="1" dirty="0"/>
              <a:t>Data: </a:t>
            </a:r>
            <a:r>
              <a:rPr lang="en-US" dirty="0"/>
              <a:t>Tabular Data with shopping basket contents, e.g. item type, number of items, prices per item</a:t>
            </a:r>
          </a:p>
          <a:p>
            <a:pPr lvl="1"/>
            <a:r>
              <a:rPr lang="de-DE" i="0" dirty="0"/>
              <a:t>Total: 115.988 </a:t>
            </a:r>
            <a:r>
              <a:rPr lang="de-DE" i="0" dirty="0" err="1"/>
              <a:t>samples</a:t>
            </a:r>
            <a:r>
              <a:rPr lang="de-DE" i="0" dirty="0"/>
              <a:t> – </a:t>
            </a:r>
            <a:r>
              <a:rPr lang="de-DE" i="0" dirty="0" err="1"/>
              <a:t>only</a:t>
            </a:r>
            <a:r>
              <a:rPr lang="de-DE" i="0" dirty="0"/>
              <a:t> </a:t>
            </a:r>
            <a:r>
              <a:rPr lang="de-DE" b="1" i="0" dirty="0"/>
              <a:t>1.681</a:t>
            </a:r>
            <a:r>
              <a:rPr lang="de-DE" i="0" dirty="0"/>
              <a:t> are </a:t>
            </a:r>
            <a:r>
              <a:rPr lang="de-DE" i="0" dirty="0" err="1"/>
              <a:t>fraud</a:t>
            </a:r>
            <a:r>
              <a:rPr lang="de-DE" i="0" dirty="0"/>
              <a:t> (~1.4%)</a:t>
            </a:r>
          </a:p>
          <a:p>
            <a:pPr lvl="1"/>
            <a:r>
              <a:rPr lang="de-DE" i="0" dirty="0"/>
              <a:t>147 </a:t>
            </a:r>
            <a:r>
              <a:rPr lang="de-DE" i="0" dirty="0" err="1"/>
              <a:t>columns</a:t>
            </a:r>
            <a:r>
              <a:rPr lang="de-DE" i="0" dirty="0"/>
              <a:t>: 144 are </a:t>
            </a:r>
            <a:r>
              <a:rPr lang="de-DE" i="0" dirty="0" err="1"/>
              <a:t>grouped</a:t>
            </a:r>
            <a:r>
              <a:rPr lang="de-DE" i="0" dirty="0"/>
              <a:t> </a:t>
            </a:r>
            <a:r>
              <a:rPr lang="de-DE" i="0" dirty="0" err="1"/>
              <a:t>into</a:t>
            </a:r>
            <a:r>
              <a:rPr lang="de-DE" i="0" dirty="0"/>
              <a:t> 6 </a:t>
            </a:r>
            <a:r>
              <a:rPr lang="de-DE" i="0" dirty="0" err="1"/>
              <a:t>categories</a:t>
            </a:r>
            <a:r>
              <a:rPr lang="de-DE" i="0" dirty="0"/>
              <a:t> (up to 24 </a:t>
            </a:r>
            <a:r>
              <a:rPr lang="de-DE" i="0" dirty="0" err="1"/>
              <a:t>items</a:t>
            </a:r>
            <a:r>
              <a:rPr lang="de-DE" i="0" dirty="0"/>
              <a:t> per sample)</a:t>
            </a:r>
            <a:endParaRPr lang="en-US" b="1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17179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632BE7-D4B3-A5B7-81F6-6C2A0954D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Literature</a:t>
            </a:r>
            <a:r>
              <a:rPr lang="de-DE" dirty="0"/>
              <a:t> Review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9F19D81-7807-DFEB-FE18-F4DAFD554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189597" cy="4462818"/>
          </a:xfrm>
        </p:spPr>
        <p:txBody>
          <a:bodyPr>
            <a:normAutofit lnSpcReduction="10000"/>
          </a:bodyPr>
          <a:lstStyle/>
          <a:p>
            <a:r>
              <a:rPr lang="de-DE" b="1" dirty="0">
                <a:hlinkClick r:id="rId2"/>
              </a:rPr>
              <a:t>Source 1</a:t>
            </a:r>
            <a:r>
              <a:rPr lang="de-DE" dirty="0"/>
              <a:t>: “A </a:t>
            </a:r>
            <a:r>
              <a:rPr lang="de-DE" dirty="0" err="1"/>
              <a:t>numeric-based</a:t>
            </a:r>
            <a:r>
              <a:rPr lang="de-DE" dirty="0"/>
              <a:t>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 design for </a:t>
            </a:r>
            <a:r>
              <a:rPr lang="de-DE" dirty="0" err="1"/>
              <a:t>detecting</a:t>
            </a:r>
            <a:r>
              <a:rPr lang="de-DE" dirty="0"/>
              <a:t> </a:t>
            </a:r>
            <a:r>
              <a:rPr lang="de-DE" dirty="0" err="1"/>
              <a:t>organized</a:t>
            </a:r>
            <a:r>
              <a:rPr lang="de-DE" dirty="0"/>
              <a:t> </a:t>
            </a:r>
            <a:r>
              <a:rPr lang="de-DE" dirty="0" err="1"/>
              <a:t>retail</a:t>
            </a:r>
            <a:r>
              <a:rPr lang="de-DE" dirty="0"/>
              <a:t> </a:t>
            </a:r>
            <a:r>
              <a:rPr lang="de-DE" dirty="0" err="1"/>
              <a:t>fraud</a:t>
            </a:r>
            <a:r>
              <a:rPr lang="de-DE" dirty="0"/>
              <a:t> in digital </a:t>
            </a:r>
            <a:r>
              <a:rPr lang="de-DE" dirty="0" err="1"/>
              <a:t>marketplaces</a:t>
            </a:r>
            <a:r>
              <a:rPr lang="de-DE" dirty="0"/>
              <a:t>“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b="1" i="0" dirty="0" err="1">
                <a:sym typeface="Wingdings" panose="05000000000000000000" pitchFamily="2" charset="2"/>
              </a:rPr>
              <a:t>Rebalance</a:t>
            </a:r>
            <a:r>
              <a:rPr lang="de-DE" b="1" i="0" dirty="0">
                <a:sym typeface="Wingdings" panose="05000000000000000000" pitchFamily="2" charset="2"/>
              </a:rPr>
              <a:t> </a:t>
            </a:r>
            <a:r>
              <a:rPr lang="de-DE" b="1" i="0" dirty="0" err="1">
                <a:sym typeface="Wingdings" panose="05000000000000000000" pitchFamily="2" charset="2"/>
              </a:rPr>
              <a:t>data</a:t>
            </a:r>
            <a:r>
              <a:rPr lang="de-DE" b="1" i="0" dirty="0">
                <a:sym typeface="Wingdings" panose="05000000000000000000" pitchFamily="2" charset="2"/>
              </a:rPr>
              <a:t> for better </a:t>
            </a:r>
            <a:r>
              <a:rPr lang="de-DE" b="1" i="0" dirty="0" err="1">
                <a:sym typeface="Wingdings" panose="05000000000000000000" pitchFamily="2" charset="2"/>
              </a:rPr>
              <a:t>results</a:t>
            </a:r>
            <a:r>
              <a:rPr lang="de-DE" b="1" i="0" dirty="0">
                <a:sym typeface="Wingdings" panose="05000000000000000000" pitchFamily="2" charset="2"/>
              </a:rPr>
              <a:t>, </a:t>
            </a:r>
            <a:r>
              <a:rPr lang="de-DE" b="1" i="0" dirty="0" err="1">
                <a:sym typeface="Wingdings" panose="05000000000000000000" pitchFamily="2" charset="2"/>
              </a:rPr>
              <a:t>importance</a:t>
            </a:r>
            <a:r>
              <a:rPr lang="de-DE" b="1" i="0" dirty="0">
                <a:sym typeface="Wingdings" panose="05000000000000000000" pitchFamily="2" charset="2"/>
              </a:rPr>
              <a:t> of proper feature </a:t>
            </a:r>
            <a:r>
              <a:rPr lang="de-DE" b="1" i="0" dirty="0" err="1">
                <a:sym typeface="Wingdings" panose="05000000000000000000" pitchFamily="2" charset="2"/>
              </a:rPr>
              <a:t>choice</a:t>
            </a:r>
            <a:endParaRPr lang="de-DE" b="1" i="0" dirty="0">
              <a:sym typeface="Wingdings" panose="05000000000000000000" pitchFamily="2" charset="2"/>
            </a:endParaRPr>
          </a:p>
          <a:p>
            <a:pPr marL="530352" lvl="1" indent="0">
              <a:buNone/>
            </a:pPr>
            <a:endParaRPr lang="de-DE" dirty="0"/>
          </a:p>
          <a:p>
            <a:r>
              <a:rPr lang="de-DE" b="1" dirty="0">
                <a:hlinkClick r:id="rId3"/>
              </a:rPr>
              <a:t>Source 2</a:t>
            </a:r>
            <a:r>
              <a:rPr lang="de-DE" b="1" dirty="0"/>
              <a:t>: “</a:t>
            </a:r>
            <a:r>
              <a:rPr lang="de-DE" dirty="0"/>
              <a:t>A </a:t>
            </a:r>
            <a:r>
              <a:rPr lang="de-DE" dirty="0" err="1"/>
              <a:t>Comprehensive</a:t>
            </a:r>
            <a:r>
              <a:rPr lang="de-DE" dirty="0"/>
              <a:t> Survey on </a:t>
            </a:r>
            <a:r>
              <a:rPr lang="de-DE" dirty="0" err="1"/>
              <a:t>Imbalanced</a:t>
            </a:r>
            <a:r>
              <a:rPr lang="de-DE" dirty="0"/>
              <a:t> Data Learning“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b="1" i="0" dirty="0">
                <a:sym typeface="Wingdings" panose="05000000000000000000" pitchFamily="2" charset="2"/>
              </a:rPr>
              <a:t>Data </a:t>
            </a:r>
            <a:r>
              <a:rPr lang="de-DE" b="1" i="0" dirty="0" err="1">
                <a:sym typeface="Wingdings" panose="05000000000000000000" pitchFamily="2" charset="2"/>
              </a:rPr>
              <a:t>rebalancing</a:t>
            </a:r>
            <a:r>
              <a:rPr lang="de-DE" b="1" i="0" dirty="0">
                <a:sym typeface="Wingdings" panose="05000000000000000000" pitchFamily="2" charset="2"/>
              </a:rPr>
              <a:t> </a:t>
            </a:r>
            <a:r>
              <a:rPr lang="de-DE" b="1" i="0" dirty="0" err="1">
                <a:sym typeface="Wingdings" panose="05000000000000000000" pitchFamily="2" charset="2"/>
              </a:rPr>
              <a:t>techniques</a:t>
            </a:r>
            <a:r>
              <a:rPr lang="de-DE" b="1" i="0" dirty="0">
                <a:sym typeface="Wingdings" panose="05000000000000000000" pitchFamily="2" charset="2"/>
              </a:rPr>
              <a:t>: </a:t>
            </a:r>
            <a:r>
              <a:rPr lang="de-DE" b="1" i="0" dirty="0" err="1">
                <a:sym typeface="Wingdings" panose="05000000000000000000" pitchFamily="2" charset="2"/>
              </a:rPr>
              <a:t>downsampling</a:t>
            </a:r>
            <a:r>
              <a:rPr lang="de-DE" b="1" i="0" dirty="0">
                <a:sym typeface="Wingdings" panose="05000000000000000000" pitchFamily="2" charset="2"/>
              </a:rPr>
              <a:t>, SMOTE, hybrid </a:t>
            </a:r>
            <a:r>
              <a:rPr lang="de-DE" b="1" i="0" dirty="0" err="1">
                <a:sym typeface="Wingdings" panose="05000000000000000000" pitchFamily="2" charset="2"/>
              </a:rPr>
              <a:t>methods</a:t>
            </a:r>
            <a:r>
              <a:rPr lang="de-DE" b="1" i="0" dirty="0">
                <a:sym typeface="Wingdings" panose="05000000000000000000" pitchFamily="2" charset="2"/>
              </a:rPr>
              <a:t>, </a:t>
            </a:r>
            <a:r>
              <a:rPr lang="de-DE" b="1" i="0" dirty="0" err="1">
                <a:sym typeface="Wingdings" panose="05000000000000000000" pitchFamily="2" charset="2"/>
              </a:rPr>
              <a:t>focal</a:t>
            </a:r>
            <a:r>
              <a:rPr lang="de-DE" b="1" i="0" dirty="0">
                <a:sym typeface="Wingdings" panose="05000000000000000000" pitchFamily="2" charset="2"/>
              </a:rPr>
              <a:t> </a:t>
            </a:r>
            <a:r>
              <a:rPr lang="de-DE" b="1" i="0" dirty="0" err="1">
                <a:sym typeface="Wingdings" panose="05000000000000000000" pitchFamily="2" charset="2"/>
              </a:rPr>
              <a:t>loss</a:t>
            </a:r>
            <a:endParaRPr lang="de-DE" b="1" i="0" dirty="0">
              <a:sym typeface="Wingdings" panose="05000000000000000000" pitchFamily="2" charset="2"/>
            </a:endParaRPr>
          </a:p>
          <a:p>
            <a:pPr marL="530352" lvl="1" indent="0">
              <a:buNone/>
            </a:pPr>
            <a:endParaRPr lang="de-DE" i="0" dirty="0"/>
          </a:p>
          <a:p>
            <a:r>
              <a:rPr lang="de-DE" b="1" dirty="0">
                <a:hlinkClick r:id="rId4"/>
              </a:rPr>
              <a:t>Source 3</a:t>
            </a:r>
            <a:r>
              <a:rPr lang="de-DE" b="1" dirty="0"/>
              <a:t>: “</a:t>
            </a:r>
            <a:r>
              <a:rPr lang="de-DE" dirty="0"/>
              <a:t>Fraud </a:t>
            </a:r>
            <a:r>
              <a:rPr lang="de-DE" dirty="0" err="1"/>
              <a:t>Detection</a:t>
            </a:r>
            <a:r>
              <a:rPr lang="de-DE" dirty="0"/>
              <a:t> Models and their </a:t>
            </a:r>
            <a:r>
              <a:rPr lang="de-DE" dirty="0" err="1"/>
              <a:t>Explanations</a:t>
            </a:r>
            <a:r>
              <a:rPr lang="de-DE" dirty="0"/>
              <a:t> for a Buy-</a:t>
            </a:r>
            <a:r>
              <a:rPr lang="de-DE" dirty="0" err="1"/>
              <a:t>Now</a:t>
            </a:r>
            <a:r>
              <a:rPr lang="de-DE" dirty="0"/>
              <a:t>-Pay-Later Application“</a:t>
            </a:r>
          </a:p>
          <a:p>
            <a:pPr lvl="1">
              <a:buFont typeface="Wingdings" panose="05000000000000000000" pitchFamily="2" charset="2"/>
              <a:buChar char="à"/>
            </a:pPr>
            <a:r>
              <a:rPr lang="de-DE" b="1" i="0" dirty="0">
                <a:sym typeface="Wingdings" panose="05000000000000000000" pitchFamily="2" charset="2"/>
              </a:rPr>
              <a:t>Comparison of </a:t>
            </a:r>
            <a:r>
              <a:rPr lang="de-DE" b="1" i="0" dirty="0" err="1">
                <a:sym typeface="Wingdings" panose="05000000000000000000" pitchFamily="2" charset="2"/>
              </a:rPr>
              <a:t>techniques</a:t>
            </a:r>
            <a:r>
              <a:rPr lang="de-DE" b="1" i="0" dirty="0">
                <a:sym typeface="Wingdings" panose="05000000000000000000" pitchFamily="2" charset="2"/>
              </a:rPr>
              <a:t>: </a:t>
            </a:r>
            <a:r>
              <a:rPr lang="de-DE" b="1" i="0" dirty="0"/>
              <a:t>Random </a:t>
            </a:r>
            <a:r>
              <a:rPr lang="de-DE" b="1" i="0" dirty="0" err="1"/>
              <a:t>forrest</a:t>
            </a:r>
            <a:r>
              <a:rPr lang="de-DE" b="1" i="0" dirty="0"/>
              <a:t> </a:t>
            </a:r>
            <a:r>
              <a:rPr lang="de-DE" b="1" i="0" dirty="0" err="1"/>
              <a:t>performed</a:t>
            </a:r>
            <a:r>
              <a:rPr lang="de-DE" b="1" i="0" dirty="0"/>
              <a:t> the </a:t>
            </a:r>
            <a:r>
              <a:rPr lang="de-DE" b="1" i="0" dirty="0" err="1"/>
              <a:t>best</a:t>
            </a:r>
            <a:r>
              <a:rPr lang="de-DE" b="1" i="0" dirty="0"/>
              <a:t>, </a:t>
            </a:r>
            <a:r>
              <a:rPr lang="de-DE" b="1" i="0" dirty="0" err="1"/>
              <a:t>use</a:t>
            </a:r>
            <a:r>
              <a:rPr lang="de-DE" b="1" i="0" dirty="0"/>
              <a:t> </a:t>
            </a:r>
            <a:r>
              <a:rPr lang="de-DE" b="1" i="0" dirty="0" err="1"/>
              <a:t>aggregate</a:t>
            </a:r>
            <a:r>
              <a:rPr lang="de-DE" b="1" i="0" dirty="0"/>
              <a:t> </a:t>
            </a:r>
            <a:r>
              <a:rPr lang="de-DE" b="1" i="0" dirty="0" err="1"/>
              <a:t>features</a:t>
            </a:r>
            <a:endParaRPr lang="de-DE" b="1" i="0" dirty="0"/>
          </a:p>
          <a:p>
            <a:pPr lvl="1">
              <a:buFont typeface="Wingdings" panose="05000000000000000000" pitchFamily="2" charset="2"/>
              <a:buChar char="à"/>
            </a:pPr>
            <a:endParaRPr lang="de-DE" i="0" dirty="0"/>
          </a:p>
          <a:p>
            <a:pPr marL="0" indent="0" algn="ctr">
              <a:buNone/>
            </a:pPr>
            <a:r>
              <a:rPr lang="de-DE" sz="1800" b="1" dirty="0" err="1"/>
              <a:t>However</a:t>
            </a:r>
            <a:r>
              <a:rPr lang="de-DE" sz="1800" b="1" dirty="0"/>
              <a:t>: </a:t>
            </a:r>
            <a:r>
              <a:rPr lang="de-DE" sz="1800" dirty="0"/>
              <a:t>not </a:t>
            </a:r>
            <a:r>
              <a:rPr lang="de-DE" sz="1800" dirty="0" err="1"/>
              <a:t>much</a:t>
            </a:r>
            <a:r>
              <a:rPr lang="de-DE" sz="1800" dirty="0"/>
              <a:t> </a:t>
            </a:r>
            <a:r>
              <a:rPr lang="de-DE" sz="1800" dirty="0" err="1"/>
              <a:t>research</a:t>
            </a:r>
            <a:r>
              <a:rPr lang="de-DE" sz="1800" dirty="0"/>
              <a:t> </a:t>
            </a:r>
            <a:r>
              <a:rPr lang="de-DE" sz="1800" dirty="0" err="1"/>
              <a:t>concerning</a:t>
            </a:r>
            <a:r>
              <a:rPr lang="de-DE" sz="1800" dirty="0"/>
              <a:t> </a:t>
            </a:r>
            <a:r>
              <a:rPr lang="de-DE" sz="1800" dirty="0" err="1"/>
              <a:t>basket</a:t>
            </a:r>
            <a:r>
              <a:rPr lang="de-DE" sz="1800" dirty="0"/>
              <a:t>-level </a:t>
            </a:r>
            <a:r>
              <a:rPr lang="de-DE" sz="1800" dirty="0" err="1"/>
              <a:t>data</a:t>
            </a:r>
            <a:r>
              <a:rPr lang="de-DE" sz="1800" dirty="0"/>
              <a:t>, often </a:t>
            </a:r>
            <a:r>
              <a:rPr lang="de-DE" sz="1800" dirty="0" err="1"/>
              <a:t>includes</a:t>
            </a:r>
            <a:r>
              <a:rPr lang="de-DE" sz="1800" dirty="0"/>
              <a:t> </a:t>
            </a:r>
            <a:r>
              <a:rPr lang="de-DE" sz="1800" dirty="0" err="1"/>
              <a:t>user</a:t>
            </a:r>
            <a:r>
              <a:rPr lang="de-DE" sz="1800" dirty="0"/>
              <a:t> </a:t>
            </a:r>
            <a:r>
              <a:rPr lang="de-DE" sz="1800" dirty="0" err="1"/>
              <a:t>data</a:t>
            </a:r>
            <a:r>
              <a:rPr lang="de-DE" sz="1800" dirty="0"/>
              <a:t> etc.</a:t>
            </a:r>
          </a:p>
          <a:p>
            <a:pPr lvl="1">
              <a:buFont typeface="Wingdings" panose="05000000000000000000" pitchFamily="2" charset="2"/>
              <a:buChar char="à"/>
            </a:pPr>
            <a:endParaRPr lang="de-DE" i="0" dirty="0"/>
          </a:p>
          <a:p>
            <a:pPr marL="0" indent="0">
              <a:buNone/>
            </a:pPr>
            <a:endParaRPr lang="de-DE" dirty="0"/>
          </a:p>
          <a:p>
            <a:endParaRPr lang="de-DE" dirty="0"/>
          </a:p>
          <a:p>
            <a:endParaRPr lang="de-DE" dirty="0"/>
          </a:p>
          <a:p>
            <a:pPr lvl="1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16251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6A9643-402B-EA3A-7259-8EC3FC039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Dataset </a:t>
            </a:r>
            <a:r>
              <a:rPr lang="de-DE" dirty="0" err="1"/>
              <a:t>Characteristics</a:t>
            </a:r>
            <a:endParaRPr lang="de-DE" dirty="0"/>
          </a:p>
        </p:txBody>
      </p:sp>
      <p:pic>
        <p:nvPicPr>
          <p:cNvPr id="10" name="Inhaltsplatzhalter 9" descr="Ein Bild, das Text, Screenshot, Rechteck, Diagramm enthält.&#10;&#10;KI-generierte Inhalte können fehlerhaft sein.">
            <a:extLst>
              <a:ext uri="{FF2B5EF4-FFF2-40B4-BE49-F238E27FC236}">
                <a16:creationId xmlns:a16="http://schemas.microsoft.com/office/drawing/2014/main" id="{C70DB9BD-5F35-EAEC-2078-2A301F8E1D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35804" y="1714500"/>
            <a:ext cx="6119164" cy="4503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0242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01D241-9B91-08B7-6915-279FAECD3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BEEE1F-EBD6-20D8-9F30-84D5BC35F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Dataset </a:t>
            </a:r>
            <a:r>
              <a:rPr lang="de-DE" err="1"/>
              <a:t>Characteristics</a:t>
            </a:r>
            <a:endParaRPr lang="de-DE"/>
          </a:p>
        </p:txBody>
      </p:sp>
      <p:pic>
        <p:nvPicPr>
          <p:cNvPr id="4" name="Inhaltsplatzhalter 3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C7555B90-1945-73B0-3D30-F5AD1807AEC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0911" y="1761028"/>
            <a:ext cx="5079741" cy="3581400"/>
          </a:xfrm>
          <a:prstGeom prst="rect">
            <a:avLst/>
          </a:prstGeom>
        </p:spPr>
      </p:pic>
      <p:pic>
        <p:nvPicPr>
          <p:cNvPr id="7" name="Grafik 6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978FF56-2184-CFD5-7C07-9C4564909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083" y="1756419"/>
            <a:ext cx="5492238" cy="3579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9125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8F93CD-7E5F-4D38-0E89-0B17D68ED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5985649-2596-C1EE-9CFD-BFBCAA0CE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Dataset </a:t>
            </a:r>
            <a:r>
              <a:rPr lang="de-DE" err="1"/>
              <a:t>Characteristics</a:t>
            </a:r>
            <a:endParaRPr lang="de-DE"/>
          </a:p>
        </p:txBody>
      </p:sp>
      <p:pic>
        <p:nvPicPr>
          <p:cNvPr id="10" name="Inhaltsplatzhalter 9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B53D51C0-AE4B-A238-69A7-C5D9C16187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3830" y="1755322"/>
            <a:ext cx="5786740" cy="3581400"/>
          </a:xfrm>
          <a:prstGeom prst="rect">
            <a:avLst/>
          </a:prstGeom>
        </p:spPr>
      </p:pic>
      <p:pic>
        <p:nvPicPr>
          <p:cNvPr id="11" name="Grafik 10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989ACFD3-5891-A157-8784-1B7145AE8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4791" y="1754642"/>
            <a:ext cx="5641522" cy="3580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6281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473C0F-CF08-6C51-0B39-E302EABBB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Baseline Model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8E30DDA-DC27-686A-D837-3DA7698630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Simple </a:t>
            </a:r>
            <a:r>
              <a:rPr lang="de-DE" b="1" dirty="0" err="1"/>
              <a:t>Neural</a:t>
            </a:r>
            <a:r>
              <a:rPr lang="de-DE" b="1" dirty="0"/>
              <a:t> Network </a:t>
            </a:r>
          </a:p>
          <a:p>
            <a:r>
              <a:rPr lang="de-DE" b="1" dirty="0"/>
              <a:t>Evaluation </a:t>
            </a:r>
            <a:r>
              <a:rPr lang="de-DE" b="1" dirty="0" err="1"/>
              <a:t>Metric</a:t>
            </a:r>
            <a:r>
              <a:rPr lang="de-DE" b="1" dirty="0"/>
              <a:t>: </a:t>
            </a:r>
            <a:r>
              <a:rPr lang="de-DE" dirty="0"/>
              <a:t>PR-AUC</a:t>
            </a:r>
          </a:p>
          <a:p>
            <a:r>
              <a:rPr lang="de-DE" b="1" dirty="0"/>
              <a:t>Features: </a:t>
            </a:r>
            <a:r>
              <a:rPr lang="de-DE" dirty="0" err="1"/>
              <a:t>Aggregated</a:t>
            </a:r>
            <a:r>
              <a:rPr lang="de-DE" dirty="0"/>
              <a:t> </a:t>
            </a:r>
            <a:r>
              <a:rPr lang="de-DE" dirty="0" err="1"/>
              <a:t>numerical</a:t>
            </a:r>
            <a:r>
              <a:rPr lang="de-DE" dirty="0"/>
              <a:t> </a:t>
            </a:r>
            <a:r>
              <a:rPr lang="de-DE" dirty="0" err="1"/>
              <a:t>features</a:t>
            </a:r>
            <a:endParaRPr lang="de-DE" dirty="0"/>
          </a:p>
          <a:p>
            <a:pPr lvl="1"/>
            <a:r>
              <a:rPr lang="de-DE" dirty="0"/>
              <a:t>Total </a:t>
            </a:r>
            <a:r>
              <a:rPr lang="de-DE" dirty="0" err="1"/>
              <a:t>number</a:t>
            </a:r>
            <a:r>
              <a:rPr lang="de-DE" dirty="0"/>
              <a:t> of </a:t>
            </a:r>
            <a:r>
              <a:rPr lang="de-DE" dirty="0" err="1"/>
              <a:t>items</a:t>
            </a:r>
            <a:r>
              <a:rPr lang="de-DE" dirty="0"/>
              <a:t> in </a:t>
            </a:r>
            <a:r>
              <a:rPr lang="de-DE" dirty="0" err="1"/>
              <a:t>basket</a:t>
            </a:r>
            <a:endParaRPr lang="de-DE" dirty="0"/>
          </a:p>
          <a:p>
            <a:pPr lvl="1"/>
            <a:r>
              <a:rPr lang="de-DE" dirty="0"/>
              <a:t>Total </a:t>
            </a:r>
            <a:r>
              <a:rPr lang="de-DE" dirty="0" err="1"/>
              <a:t>value</a:t>
            </a:r>
            <a:r>
              <a:rPr lang="de-DE" dirty="0"/>
              <a:t> of </a:t>
            </a:r>
            <a:r>
              <a:rPr lang="de-DE" dirty="0" err="1"/>
              <a:t>basket</a:t>
            </a:r>
            <a:endParaRPr lang="de-DE" dirty="0"/>
          </a:p>
          <a:p>
            <a:pPr lvl="1"/>
            <a:r>
              <a:rPr lang="de-DE" dirty="0"/>
              <a:t>Maximum item </a:t>
            </a:r>
            <a:r>
              <a:rPr lang="de-DE" dirty="0" err="1"/>
              <a:t>price</a:t>
            </a:r>
            <a:endParaRPr lang="de-DE" dirty="0"/>
          </a:p>
          <a:p>
            <a:pPr lvl="1"/>
            <a:r>
              <a:rPr lang="de-DE" dirty="0"/>
              <a:t>Average item </a:t>
            </a:r>
            <a:r>
              <a:rPr lang="de-DE" dirty="0" err="1"/>
              <a:t>price</a:t>
            </a:r>
            <a:endParaRPr lang="de-DE" dirty="0"/>
          </a:p>
          <a:p>
            <a:pPr lvl="1"/>
            <a:r>
              <a:rPr lang="de-DE" dirty="0"/>
              <a:t>Number of </a:t>
            </a:r>
            <a:r>
              <a:rPr lang="de-DE" dirty="0" err="1"/>
              <a:t>items</a:t>
            </a:r>
            <a:r>
              <a:rPr lang="de-DE" dirty="0"/>
              <a:t> from </a:t>
            </a:r>
            <a:r>
              <a:rPr lang="de-DE" dirty="0" err="1"/>
              <a:t>category</a:t>
            </a:r>
            <a:r>
              <a:rPr lang="de-DE" dirty="0"/>
              <a:t> “Computers“</a:t>
            </a:r>
          </a:p>
          <a:p>
            <a:pPr lvl="1"/>
            <a:endParaRPr lang="de-DE" b="1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140BC76-2597-5B33-3D67-7A72071AAB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9462" y="1047084"/>
            <a:ext cx="11704507" cy="7278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898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B7B14-2EF8-CA84-41E4-20A51A197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9F8CF27-7B40-6110-162C-09D8BC942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Baseline Model - Results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D2DBD9-89E3-0346-411F-612FA97CB2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286000"/>
            <a:ext cx="10080472" cy="3581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de-DE" b="1" dirty="0"/>
              <a:t>5-fold Cross Validation</a:t>
            </a:r>
            <a:r>
              <a:rPr lang="de-DE" dirty="0"/>
              <a:t>:                                               </a:t>
            </a:r>
            <a:r>
              <a:rPr lang="de-DE" b="1" dirty="0"/>
              <a:t>0.0543 (+/- 0.0091) PR-AUC</a:t>
            </a:r>
            <a:endParaRPr lang="de-DE" dirty="0"/>
          </a:p>
          <a:p>
            <a:pPr marL="383540" indent="-383540"/>
            <a:r>
              <a:rPr lang="de-DE" b="1" dirty="0"/>
              <a:t>Test Set </a:t>
            </a:r>
            <a:r>
              <a:rPr lang="de-DE" dirty="0"/>
              <a:t>(</a:t>
            </a:r>
            <a:r>
              <a:rPr lang="de-DE" dirty="0" err="1"/>
              <a:t>split</a:t>
            </a:r>
            <a:r>
              <a:rPr lang="de-DE" dirty="0"/>
              <a:t> from </a:t>
            </a:r>
            <a:r>
              <a:rPr lang="de-DE" dirty="0" err="1"/>
              <a:t>training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):                              </a:t>
            </a:r>
            <a:r>
              <a:rPr lang="de-DE" b="1" dirty="0"/>
              <a:t>0.0510 PR-AUC</a:t>
            </a:r>
            <a:endParaRPr lang="de-DE" dirty="0"/>
          </a:p>
          <a:p>
            <a:pPr marL="383540" indent="-383540"/>
            <a:r>
              <a:rPr lang="de-DE" b="1" dirty="0"/>
              <a:t>Test Set </a:t>
            </a:r>
            <a:r>
              <a:rPr lang="de-DE" dirty="0"/>
              <a:t>(</a:t>
            </a:r>
            <a:r>
              <a:rPr lang="de-DE" dirty="0" err="1"/>
              <a:t>public</a:t>
            </a:r>
            <a:r>
              <a:rPr lang="de-DE" dirty="0"/>
              <a:t> </a:t>
            </a:r>
            <a:r>
              <a:rPr lang="de-DE" dirty="0" err="1"/>
              <a:t>leaderboard</a:t>
            </a:r>
            <a:r>
              <a:rPr lang="de-DE" dirty="0"/>
              <a:t> on </a:t>
            </a:r>
            <a:r>
              <a:rPr lang="de-DE" dirty="0" err="1"/>
              <a:t>ChallengeData</a:t>
            </a:r>
            <a:r>
              <a:rPr lang="de-DE" dirty="0"/>
              <a:t>):      </a:t>
            </a:r>
            <a:r>
              <a:rPr lang="de-DE" b="1" dirty="0"/>
              <a:t>0.0623 PR-AUC</a:t>
            </a:r>
          </a:p>
          <a:p>
            <a:endParaRPr lang="de-DE" b="1" dirty="0"/>
          </a:p>
          <a:p>
            <a:endParaRPr lang="de-DE" b="1" dirty="0"/>
          </a:p>
          <a:p>
            <a:endParaRPr lang="de-DE" b="1" dirty="0"/>
          </a:p>
          <a:p>
            <a:pPr marL="0" indent="0">
              <a:buNone/>
            </a:pPr>
            <a:r>
              <a:rPr lang="de-DE" b="1" dirty="0">
                <a:sym typeface="Wingdings" panose="05000000000000000000" pitchFamily="2" charset="2"/>
              </a:rPr>
              <a:t> </a:t>
            </a:r>
            <a:r>
              <a:rPr lang="de-DE" dirty="0"/>
              <a:t> Benchmark 1: 0,017 PR-AUC </a:t>
            </a:r>
            <a:r>
              <a:rPr lang="de-DE" b="1" dirty="0"/>
              <a:t>&lt; </a:t>
            </a:r>
            <a:r>
              <a:rPr lang="de-DE" b="1" u="sng" dirty="0" err="1"/>
              <a:t>Our</a:t>
            </a:r>
            <a:r>
              <a:rPr lang="de-DE" b="1" u="sng" dirty="0"/>
              <a:t> Baseline Model</a:t>
            </a:r>
            <a:r>
              <a:rPr lang="de-DE" u="sng" dirty="0"/>
              <a:t> </a:t>
            </a:r>
            <a:r>
              <a:rPr lang="de-DE" b="1" dirty="0"/>
              <a:t>&lt;</a:t>
            </a:r>
            <a:r>
              <a:rPr lang="de-DE" dirty="0"/>
              <a:t> Benchmark 2: 0,1574 PR-AUC</a:t>
            </a:r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  <a:p>
            <a:endParaRPr lang="de-DE" b="1" dirty="0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55247FB-DECE-AEFE-AD6D-6AE3E69D3199}"/>
              </a:ext>
            </a:extLst>
          </p:cNvPr>
          <p:cNvSpPr txBox="1"/>
          <p:nvPr/>
        </p:nvSpPr>
        <p:spPr>
          <a:xfrm>
            <a:off x="3968181" y="5981700"/>
            <a:ext cx="74838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de-DE" sz="1600" dirty="0"/>
              <a:t>Source: </a:t>
            </a:r>
            <a:r>
              <a:rPr lang="x-none" sz="1600" dirty="0">
                <a:hlinkClick r:id="rId2"/>
              </a:rPr>
              <a:t>https://challengedata.ens.fr/challenges/104</a:t>
            </a:r>
            <a:r>
              <a:rPr lang="de-DE" sz="1600" dirty="0"/>
              <a:t> </a:t>
            </a:r>
            <a:endParaRPr lang="x-none" sz="1600" dirty="0"/>
          </a:p>
        </p:txBody>
      </p:sp>
    </p:spTree>
    <p:extLst>
      <p:ext uri="{BB962C8B-B14F-4D97-AF65-F5344CB8AC3E}">
        <p14:creationId xmlns:p14="http://schemas.microsoft.com/office/powerpoint/2010/main" val="117309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340C2-7DA2-EED8-B73F-550B62028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B8EEEEB-04B1-2583-74FB-326B83159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err="1"/>
              <a:t>Preprocessing</a:t>
            </a:r>
          </a:p>
        </p:txBody>
      </p:sp>
      <p:pic>
        <p:nvPicPr>
          <p:cNvPr id="9" name="Inhaltsplatzhalter 8" descr="Ein Bild, das Text, Screenshot, Display, Schrift enthält.&#10;&#10;KI-generierte Inhalte können fehlerhaft sein.">
            <a:extLst>
              <a:ext uri="{FF2B5EF4-FFF2-40B4-BE49-F238E27FC236}">
                <a16:creationId xmlns:a16="http://schemas.microsoft.com/office/drawing/2014/main" id="{DF5FC927-ECEE-B728-EFCC-C879AD52F2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6232" b="138"/>
          <a:stretch>
            <a:fillRect/>
          </a:stretch>
        </p:blipFill>
        <p:spPr>
          <a:xfrm>
            <a:off x="1234115" y="1766295"/>
            <a:ext cx="10490307" cy="4738451"/>
          </a:xfrm>
          <a:prstGeom prst="rect">
            <a:avLst/>
          </a:prstGeom>
        </p:spPr>
      </p:pic>
      <p:graphicFrame>
        <p:nvGraphicFramePr>
          <p:cNvPr id="10" name="Tabelle 9">
            <a:extLst>
              <a:ext uri="{FF2B5EF4-FFF2-40B4-BE49-F238E27FC236}">
                <a16:creationId xmlns:a16="http://schemas.microsoft.com/office/drawing/2014/main" id="{4331E4F5-4397-5E32-FB42-B5A55B963D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94139"/>
              </p:ext>
            </p:extLst>
          </p:nvPr>
        </p:nvGraphicFramePr>
        <p:xfrm>
          <a:off x="1426573" y="4375894"/>
          <a:ext cx="4984550" cy="132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2275">
                  <a:extLst>
                    <a:ext uri="{9D8B030D-6E8A-4147-A177-3AD203B41FA5}">
                      <a16:colId xmlns:a16="http://schemas.microsoft.com/office/drawing/2014/main" val="4123227458"/>
                    </a:ext>
                  </a:extLst>
                </a:gridCol>
                <a:gridCol w="2492275">
                  <a:extLst>
                    <a:ext uri="{9D8B030D-6E8A-4147-A177-3AD203B41FA5}">
                      <a16:colId xmlns:a16="http://schemas.microsoft.com/office/drawing/2014/main" val="21415051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/>
                        <a:t>Categorical Feature</a:t>
                      </a:r>
                      <a:endParaRPr lang="de-DE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Numerical Vocabulary</a:t>
                      </a:r>
                      <a:endParaRPr lang="de-DE" err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8054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2HP ELITEBOOK 850V6</a:t>
                      </a:r>
                      <a:endParaRPr lang="de-DE" sz="160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1168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de-DE" sz="1600" b="0" i="0" u="none" strike="noStrike" noProof="0">
                          <a:solidFill>
                            <a:schemeClr val="tx1"/>
                          </a:solidFill>
                          <a:latin typeface="Consolas"/>
                        </a:rPr>
                        <a:t>2LOGITECH PEBBLE M350 BLUETOOTH MOUSE</a:t>
                      </a:r>
                      <a:endParaRPr lang="de-DE" sz="1600" err="1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3649559"/>
                  </a:ext>
                </a:extLst>
              </a:tr>
            </a:tbl>
          </a:graphicData>
        </a:graphic>
      </p:graphicFrame>
      <p:sp>
        <p:nvSpPr>
          <p:cNvPr id="11" name="Textfeld 10">
            <a:extLst>
              <a:ext uri="{FF2B5EF4-FFF2-40B4-BE49-F238E27FC236}">
                <a16:creationId xmlns:a16="http://schemas.microsoft.com/office/drawing/2014/main" id="{9D806838-072B-DBE6-B5D7-E409C73A88A6}"/>
              </a:ext>
            </a:extLst>
          </p:cNvPr>
          <p:cNvSpPr txBox="1"/>
          <p:nvPr/>
        </p:nvSpPr>
        <p:spPr>
          <a:xfrm>
            <a:off x="1428750" y="5783035"/>
            <a:ext cx="9737271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/>
              <a:t>The </a:t>
            </a:r>
            <a:r>
              <a:rPr lang="de-DE" err="1"/>
              <a:t>numerically-encoded</a:t>
            </a:r>
            <a:r>
              <a:rPr lang="de-DE"/>
              <a:t> </a:t>
            </a:r>
            <a:r>
              <a:rPr lang="de-DE" err="1"/>
              <a:t>categorical</a:t>
            </a:r>
            <a:r>
              <a:rPr lang="de-DE"/>
              <a:t> </a:t>
            </a:r>
            <a:r>
              <a:rPr lang="de-DE" err="1"/>
              <a:t>data</a:t>
            </a:r>
            <a:r>
              <a:rPr lang="de-DE"/>
              <a:t> </a:t>
            </a:r>
            <a:r>
              <a:rPr lang="de-DE" err="1"/>
              <a:t>can</a:t>
            </a:r>
            <a:r>
              <a:rPr lang="de-DE"/>
              <a:t> </a:t>
            </a:r>
            <a:r>
              <a:rPr lang="de-DE" err="1"/>
              <a:t>be</a:t>
            </a:r>
            <a:r>
              <a:rPr lang="de-DE"/>
              <a:t> </a:t>
            </a:r>
            <a:r>
              <a:rPr lang="de-DE" err="1"/>
              <a:t>fed</a:t>
            </a:r>
            <a:r>
              <a:rPr lang="de-DE"/>
              <a:t> </a:t>
            </a:r>
            <a:r>
              <a:rPr lang="de-DE" err="1"/>
              <a:t>into</a:t>
            </a:r>
            <a:r>
              <a:rPr lang="de-DE"/>
              <a:t> </a:t>
            </a:r>
            <a:r>
              <a:rPr lang="de-DE" err="1"/>
              <a:t>the</a:t>
            </a:r>
            <a:r>
              <a:rPr lang="de-DE"/>
              <a:t> </a:t>
            </a:r>
            <a:r>
              <a:rPr lang="de-DE" err="1"/>
              <a:t>model's</a:t>
            </a:r>
            <a:r>
              <a:rPr lang="de-DE"/>
              <a:t> </a:t>
            </a:r>
            <a:r>
              <a:rPr lang="de-DE" err="1"/>
              <a:t>embedding</a:t>
            </a:r>
            <a:r>
              <a:rPr lang="de-DE"/>
              <a:t> </a:t>
            </a:r>
            <a:r>
              <a:rPr lang="de-DE" err="1"/>
              <a:t>layers</a:t>
            </a:r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02333EB3-4F44-B739-2BBE-9FDA13A03306}"/>
              </a:ext>
            </a:extLst>
          </p:cNvPr>
          <p:cNvSpPr txBox="1"/>
          <p:nvPr/>
        </p:nvSpPr>
        <p:spPr>
          <a:xfrm>
            <a:off x="1428750" y="3864428"/>
            <a:ext cx="97372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400" err="1"/>
              <a:t>Categorical</a:t>
            </a:r>
            <a:r>
              <a:rPr lang="de-DE" sz="2400"/>
              <a:t> Feature Encoding (</a:t>
            </a:r>
            <a:r>
              <a:rPr lang="de-DE" sz="2400" err="1"/>
              <a:t>Example</a:t>
            </a:r>
            <a:r>
              <a:rPr lang="de-DE" sz="2400"/>
              <a:t>)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4E34538E-0A92-DA68-09B9-473F09CF4A1A}"/>
              </a:ext>
            </a:extLst>
          </p:cNvPr>
          <p:cNvSpPr txBox="1"/>
          <p:nvPr/>
        </p:nvSpPr>
        <p:spPr>
          <a:xfrm>
            <a:off x="1428750" y="1483178"/>
            <a:ext cx="973727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de-DE" sz="2400" dirty="0"/>
              <a:t>Feature Engineering (</a:t>
            </a:r>
            <a:r>
              <a:rPr lang="de-DE" sz="2400" dirty="0" err="1"/>
              <a:t>Aggregated</a:t>
            </a:r>
            <a:r>
              <a:rPr lang="de-DE" sz="2400" dirty="0"/>
              <a:t> </a:t>
            </a:r>
            <a:r>
              <a:rPr lang="de-DE" sz="2400" dirty="0" err="1"/>
              <a:t>Numerical</a:t>
            </a:r>
            <a:r>
              <a:rPr lang="de-DE" sz="2400" dirty="0"/>
              <a:t> Features)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236905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C6032D-43E8-9A38-5B7B-1040036D2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09A5F2-97B5-5F2E-E72F-E71356E87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Models to </a:t>
            </a:r>
            <a:r>
              <a:rPr lang="de-DE" dirty="0" err="1"/>
              <a:t>compare</a:t>
            </a:r>
            <a:endParaRPr lang="de-DE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9530E50E-8C0E-71AE-1C69-77CCD6913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789" b="40860"/>
          <a:stretch>
            <a:fillRect/>
          </a:stretch>
        </p:blipFill>
        <p:spPr>
          <a:xfrm>
            <a:off x="1371600" y="2416399"/>
            <a:ext cx="4924795" cy="3607099"/>
          </a:xfrm>
          <a:prstGeom prst="rect">
            <a:avLst/>
          </a:prstGeom>
        </p:spPr>
      </p:pic>
      <p:sp>
        <p:nvSpPr>
          <p:cNvPr id="3" name="Textfeld 2">
            <a:extLst>
              <a:ext uri="{FF2B5EF4-FFF2-40B4-BE49-F238E27FC236}">
                <a16:creationId xmlns:a16="http://schemas.microsoft.com/office/drawing/2014/main" id="{61DF97C0-E220-5680-8D7D-0AF45AA646C9}"/>
              </a:ext>
            </a:extLst>
          </p:cNvPr>
          <p:cNvSpPr txBox="1"/>
          <p:nvPr/>
        </p:nvSpPr>
        <p:spPr>
          <a:xfrm>
            <a:off x="7723031" y="1601551"/>
            <a:ext cx="3097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2. </a:t>
            </a:r>
            <a:r>
              <a:rPr lang="de-DE" sz="2400" b="1" dirty="0" err="1"/>
              <a:t>XGBoost</a:t>
            </a:r>
            <a:endParaRPr lang="de-DE" sz="4400" b="1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0128E79-B37C-C1F9-5EE6-755311CA3E9C}"/>
              </a:ext>
            </a:extLst>
          </p:cNvPr>
          <p:cNvSpPr txBox="1"/>
          <p:nvPr/>
        </p:nvSpPr>
        <p:spPr>
          <a:xfrm>
            <a:off x="1219200" y="1601552"/>
            <a:ext cx="30973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/>
              <a:t>1. </a:t>
            </a:r>
            <a:r>
              <a:rPr lang="de-DE" sz="2400" b="1" dirty="0" err="1"/>
              <a:t>Embeddings</a:t>
            </a:r>
            <a:r>
              <a:rPr lang="de-DE" sz="2400" b="1" dirty="0"/>
              <a:t> Model</a:t>
            </a:r>
            <a:endParaRPr lang="de-DE" sz="4400" b="1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433FC015-52A3-C0A7-891C-780176D5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2828" y="608526"/>
            <a:ext cx="10955010" cy="657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3619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4FB9CE-D191-D74B-90C6-B9166AC10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ANN with </a:t>
            </a:r>
            <a:r>
              <a:rPr lang="de-DE" dirty="0" err="1"/>
              <a:t>Embeddings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6B915A3-B67C-9376-2EA7-7C8B423A5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13" r="6914"/>
          <a:stretch>
            <a:fillRect/>
          </a:stretch>
        </p:blipFill>
        <p:spPr>
          <a:xfrm>
            <a:off x="1586922" y="895323"/>
            <a:ext cx="9170555" cy="636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40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F332E5-88E4-553F-F586-AFBB524CB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73D0BEA0-991C-BCC7-3F71-A132E16D7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14" r="19094"/>
          <a:stretch>
            <a:fillRect/>
          </a:stretch>
        </p:blipFill>
        <p:spPr>
          <a:xfrm>
            <a:off x="2850725" y="1234215"/>
            <a:ext cx="6642950" cy="5439635"/>
          </a:xfrm>
          <a:prstGeom prst="rect">
            <a:avLst/>
          </a:prstGeom>
        </p:spPr>
      </p:pic>
      <p:sp>
        <p:nvSpPr>
          <p:cNvPr id="4" name="Titel 3">
            <a:extLst>
              <a:ext uri="{FF2B5EF4-FFF2-40B4-BE49-F238E27FC236}">
                <a16:creationId xmlns:a16="http://schemas.microsoft.com/office/drawing/2014/main" id="{3A6A8541-6365-D7D3-4F99-64B8B4ED3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ANN with </a:t>
            </a:r>
            <a:r>
              <a:rPr lang="de-DE" dirty="0" err="1"/>
              <a:t>Embeddings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406460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32E5EC-81DA-8FFF-259D-DA6FBCFC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Results</a:t>
            </a:r>
          </a:p>
        </p:txBody>
      </p:sp>
      <p:graphicFrame>
        <p:nvGraphicFramePr>
          <p:cNvPr id="7" name="Diagramm 6">
            <a:extLst>
              <a:ext uri="{FF2B5EF4-FFF2-40B4-BE49-F238E27FC236}">
                <a16:creationId xmlns:a16="http://schemas.microsoft.com/office/drawing/2014/main" id="{96961882-B52A-F2D0-A003-EFD346465C6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0284563"/>
              </p:ext>
            </p:extLst>
          </p:nvPr>
        </p:nvGraphicFramePr>
        <p:xfrm>
          <a:off x="2108200" y="1357170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CB0606BB-79CE-C12D-DA34-BC6FE3196F57}"/>
              </a:ext>
            </a:extLst>
          </p:cNvPr>
          <p:cNvCxnSpPr>
            <a:cxnSpLocks/>
          </p:cNvCxnSpPr>
          <p:nvPr/>
        </p:nvCxnSpPr>
        <p:spPr>
          <a:xfrm>
            <a:off x="6926470" y="2827130"/>
            <a:ext cx="1822675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feld 9">
            <a:extLst>
              <a:ext uri="{FF2B5EF4-FFF2-40B4-BE49-F238E27FC236}">
                <a16:creationId xmlns:a16="http://schemas.microsoft.com/office/drawing/2014/main" id="{F7899130-5040-BDEB-F804-BE5C24AD99F2}"/>
              </a:ext>
            </a:extLst>
          </p:cNvPr>
          <p:cNvSpPr txBox="1"/>
          <p:nvPr/>
        </p:nvSpPr>
        <p:spPr>
          <a:xfrm>
            <a:off x="9907793" y="2688630"/>
            <a:ext cx="263024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Challenge Benchmark</a:t>
            </a:r>
          </a:p>
        </p:txBody>
      </p:sp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89F2C00D-DDA0-291D-E8B5-CD18B9F55F39}"/>
              </a:ext>
            </a:extLst>
          </p:cNvPr>
          <p:cNvCxnSpPr>
            <a:cxnSpLocks/>
            <a:endCxn id="10" idx="1"/>
          </p:cNvCxnSpPr>
          <p:nvPr/>
        </p:nvCxnSpPr>
        <p:spPr>
          <a:xfrm>
            <a:off x="9383057" y="2827130"/>
            <a:ext cx="52473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733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B778-D95E-41B0-929F-06650E031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7B895C-DD90-CE3D-11E4-F8080EEF14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Results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211F81AF-1BAD-1D7D-2F3B-81CCC53C3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71700"/>
            <a:ext cx="10110480" cy="3139440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2DFCFA2F-0BCA-266C-48B9-7404D4AA6BF3}"/>
              </a:ext>
            </a:extLst>
          </p:cNvPr>
          <p:cNvSpPr/>
          <p:nvPr/>
        </p:nvSpPr>
        <p:spPr>
          <a:xfrm>
            <a:off x="1445342" y="3429000"/>
            <a:ext cx="9952212" cy="57666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02874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19C8895-A65D-2802-F9E8-4412EFC6D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Challenges and Errors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BD416F7-0F34-336E-B768-7B86004FF3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016956"/>
            <a:ext cx="9601200" cy="451952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83540" indent="-383540"/>
            <a:r>
              <a:rPr lang="de-DE" sz="1800" dirty="0"/>
              <a:t>How to deal with the </a:t>
            </a:r>
            <a:r>
              <a:rPr lang="de-DE" sz="1800" dirty="0" err="1"/>
              <a:t>categorical</a:t>
            </a:r>
            <a:r>
              <a:rPr lang="de-DE" sz="1800" dirty="0"/>
              <a:t> </a:t>
            </a:r>
            <a:r>
              <a:rPr lang="de-DE" sz="1800" dirty="0" err="1"/>
              <a:t>columns</a:t>
            </a:r>
            <a:r>
              <a:rPr lang="de-DE" sz="1800" dirty="0"/>
              <a:t> in the </a:t>
            </a:r>
            <a:r>
              <a:rPr lang="de-DE" sz="1800" dirty="0" err="1"/>
              <a:t>dataset</a:t>
            </a:r>
            <a:r>
              <a:rPr lang="de-DE" sz="1800" dirty="0"/>
              <a:t>?</a:t>
            </a:r>
          </a:p>
          <a:p>
            <a:pPr lvl="1" indent="-383540"/>
            <a:r>
              <a:rPr lang="de-DE" sz="1800" dirty="0" err="1"/>
              <a:t>Vocabularies</a:t>
            </a:r>
            <a:r>
              <a:rPr lang="de-DE" sz="1800" dirty="0"/>
              <a:t> + </a:t>
            </a:r>
            <a:r>
              <a:rPr lang="de-DE" sz="1800" dirty="0" err="1"/>
              <a:t>Embeddings</a:t>
            </a:r>
            <a:endParaRPr lang="de-DE" sz="1800" dirty="0"/>
          </a:p>
          <a:p>
            <a:pPr marL="383540" indent="-383540"/>
            <a:r>
              <a:rPr lang="de-DE" sz="1800" dirty="0"/>
              <a:t>How to deal with the </a:t>
            </a:r>
            <a:r>
              <a:rPr lang="de-DE" sz="1800" dirty="0" err="1"/>
              <a:t>varying</a:t>
            </a:r>
            <a:r>
              <a:rPr lang="de-DE" sz="1800" dirty="0"/>
              <a:t> </a:t>
            </a:r>
            <a:r>
              <a:rPr lang="de-DE" sz="1800" dirty="0" err="1"/>
              <a:t>number</a:t>
            </a:r>
            <a:r>
              <a:rPr lang="de-DE" sz="1800" dirty="0"/>
              <a:t> of </a:t>
            </a:r>
            <a:r>
              <a:rPr lang="de-DE" sz="1800" dirty="0" err="1"/>
              <a:t>items</a:t>
            </a:r>
            <a:r>
              <a:rPr lang="de-DE" sz="1800" dirty="0"/>
              <a:t> per </a:t>
            </a:r>
            <a:r>
              <a:rPr lang="de-DE" sz="1800" dirty="0" err="1"/>
              <a:t>basket</a:t>
            </a:r>
            <a:r>
              <a:rPr lang="de-DE" sz="1800" dirty="0"/>
              <a:t>?</a:t>
            </a:r>
          </a:p>
          <a:p>
            <a:pPr lvl="1" indent="-383540"/>
            <a:r>
              <a:rPr lang="de-DE" sz="1800" dirty="0"/>
              <a:t>Masked Mean Pooling</a:t>
            </a:r>
          </a:p>
          <a:p>
            <a:pPr marL="383540" indent="-383540"/>
            <a:r>
              <a:rPr lang="de-DE" sz="1800" dirty="0" err="1"/>
              <a:t>What</a:t>
            </a:r>
            <a:r>
              <a:rPr lang="de-DE" sz="1800" dirty="0"/>
              <a:t> </a:t>
            </a:r>
            <a:r>
              <a:rPr lang="de-DE" sz="1800" dirty="0" err="1"/>
              <a:t>parameters</a:t>
            </a:r>
            <a:r>
              <a:rPr lang="de-DE" sz="1800" dirty="0"/>
              <a:t> to </a:t>
            </a:r>
            <a:r>
              <a:rPr lang="de-DE" sz="1800" dirty="0" err="1"/>
              <a:t>optimize</a:t>
            </a:r>
            <a:r>
              <a:rPr lang="de-DE" sz="1800" dirty="0"/>
              <a:t> </a:t>
            </a:r>
            <a:r>
              <a:rPr lang="de-DE" sz="1800" dirty="0" err="1"/>
              <a:t>during</a:t>
            </a:r>
            <a:r>
              <a:rPr lang="de-DE" sz="1800" dirty="0"/>
              <a:t> an </a:t>
            </a:r>
            <a:r>
              <a:rPr lang="de-DE" sz="1800" dirty="0" err="1"/>
              <a:t>Optuna</a:t>
            </a:r>
            <a:r>
              <a:rPr lang="de-DE" sz="1800" dirty="0"/>
              <a:t> </a:t>
            </a:r>
            <a:r>
              <a:rPr lang="de-DE" sz="1800" dirty="0" err="1"/>
              <a:t>study</a:t>
            </a:r>
            <a:r>
              <a:rPr lang="de-DE" sz="1800" dirty="0"/>
              <a:t>?</a:t>
            </a:r>
          </a:p>
          <a:p>
            <a:pPr lvl="1" indent="-383540"/>
            <a:r>
              <a:rPr lang="de-DE" sz="1800" dirty="0"/>
              <a:t>Trial &amp; Error, </a:t>
            </a:r>
            <a:r>
              <a:rPr lang="de-DE" sz="1800" dirty="0" err="1"/>
              <a:t>Minimizing</a:t>
            </a:r>
            <a:r>
              <a:rPr lang="de-DE" sz="1800" dirty="0"/>
              <a:t> Parameter Space</a:t>
            </a:r>
          </a:p>
          <a:p>
            <a:pPr marL="383540" indent="-383540"/>
            <a:endParaRPr lang="de-DE" sz="1800" dirty="0"/>
          </a:p>
          <a:p>
            <a:pPr marL="383540" indent="-383540"/>
            <a:r>
              <a:rPr lang="de-DE" sz="1800" dirty="0" err="1"/>
              <a:t>Improving</a:t>
            </a:r>
            <a:r>
              <a:rPr lang="de-DE" sz="1800" dirty="0"/>
              <a:t> </a:t>
            </a:r>
            <a:r>
              <a:rPr lang="de-DE" sz="1800" dirty="0" err="1"/>
              <a:t>results</a:t>
            </a:r>
            <a:r>
              <a:rPr lang="de-DE" sz="1800" dirty="0"/>
              <a:t> of </a:t>
            </a:r>
            <a:r>
              <a:rPr lang="de-DE" sz="1800" dirty="0" err="1"/>
              <a:t>embedding</a:t>
            </a:r>
            <a:r>
              <a:rPr lang="de-DE" sz="1800" dirty="0"/>
              <a:t> </a:t>
            </a:r>
            <a:r>
              <a:rPr lang="de-DE" sz="1800" dirty="0" err="1"/>
              <a:t>model</a:t>
            </a:r>
            <a:endParaRPr lang="de-DE" sz="1800" dirty="0"/>
          </a:p>
          <a:p>
            <a:pPr lvl="1" indent="-383540"/>
            <a:r>
              <a:rPr lang="de-DE" sz="1800" dirty="0" err="1"/>
              <a:t>Tried</a:t>
            </a:r>
            <a:r>
              <a:rPr lang="de-DE" sz="1800" dirty="0"/>
              <a:t> </a:t>
            </a:r>
            <a:r>
              <a:rPr lang="de-DE" sz="1800" dirty="0" err="1"/>
              <a:t>Oversampling</a:t>
            </a:r>
            <a:r>
              <a:rPr lang="de-DE" sz="1800" dirty="0"/>
              <a:t>/</a:t>
            </a:r>
            <a:r>
              <a:rPr lang="de-DE" sz="1800" dirty="0" err="1"/>
              <a:t>Undersampling</a:t>
            </a:r>
            <a:r>
              <a:rPr lang="de-DE" sz="1800" dirty="0"/>
              <a:t> </a:t>
            </a:r>
            <a:r>
              <a:rPr lang="de-DE" sz="1800" i="0" dirty="0">
                <a:sym typeface="Wingdings" panose="05000000000000000000" pitchFamily="2" charset="2"/>
              </a:rPr>
              <a:t></a:t>
            </a:r>
            <a:r>
              <a:rPr lang="de-DE" sz="1800" i="0" dirty="0"/>
              <a:t> </a:t>
            </a:r>
            <a:r>
              <a:rPr lang="de-DE" sz="1800" dirty="0"/>
              <a:t>no </a:t>
            </a:r>
            <a:r>
              <a:rPr lang="de-DE" sz="1800" dirty="0" err="1"/>
              <a:t>improvements</a:t>
            </a:r>
            <a:endParaRPr lang="de-DE" sz="1800" dirty="0"/>
          </a:p>
          <a:p>
            <a:pPr lvl="1" indent="-383540"/>
            <a:r>
              <a:rPr lang="de-DE" sz="1800" dirty="0"/>
              <a:t>Hyperparameter </a:t>
            </a:r>
            <a:r>
              <a:rPr lang="de-DE" sz="1800" dirty="0" err="1"/>
              <a:t>Optimization</a:t>
            </a:r>
            <a:r>
              <a:rPr lang="de-DE" sz="1800" dirty="0"/>
              <a:t> </a:t>
            </a:r>
            <a:r>
              <a:rPr lang="de-DE" sz="1800" i="0" dirty="0">
                <a:sym typeface="Wingdings" panose="05000000000000000000" pitchFamily="2" charset="2"/>
              </a:rPr>
              <a:t></a:t>
            </a:r>
            <a:r>
              <a:rPr lang="de-DE" sz="1800" dirty="0"/>
              <a:t> </a:t>
            </a:r>
            <a:r>
              <a:rPr lang="de-DE" sz="1800" dirty="0" err="1"/>
              <a:t>only</a:t>
            </a:r>
            <a:r>
              <a:rPr lang="de-DE" sz="1800" dirty="0"/>
              <a:t> small </a:t>
            </a:r>
            <a:r>
              <a:rPr lang="de-DE" sz="1800" dirty="0" err="1"/>
              <a:t>improvements</a:t>
            </a:r>
            <a:endParaRPr lang="de-DE" sz="1800" dirty="0"/>
          </a:p>
          <a:p>
            <a:pPr marL="816610" lvl="1" indent="-285750">
              <a:buFont typeface="Wingdings" panose="05000000000000000000" pitchFamily="2" charset="2"/>
              <a:buChar char="à"/>
            </a:pPr>
            <a:r>
              <a:rPr lang="de-DE" sz="1800" dirty="0" err="1">
                <a:sym typeface="Wingdings" panose="05000000000000000000" pitchFamily="2" charset="2"/>
              </a:rPr>
              <a:t>XGBoost</a:t>
            </a:r>
            <a:endParaRPr lang="de-DE" sz="1800" dirty="0">
              <a:sym typeface="Wingdings" panose="05000000000000000000" pitchFamily="2" charset="2"/>
            </a:endParaRPr>
          </a:p>
          <a:p>
            <a:pPr marL="286258" indent="-285750"/>
            <a:r>
              <a:rPr lang="de-DE" sz="1800" dirty="0"/>
              <a:t>Ensemble Approach (ANN + </a:t>
            </a:r>
            <a:r>
              <a:rPr lang="de-DE" sz="1800" dirty="0" err="1"/>
              <a:t>XGBoost</a:t>
            </a:r>
            <a:r>
              <a:rPr lang="de-DE" sz="1800" dirty="0"/>
              <a:t>) </a:t>
            </a:r>
            <a:r>
              <a:rPr lang="de-DE" sz="1800" dirty="0">
                <a:sym typeface="Wingdings" panose="05000000000000000000" pitchFamily="2" charset="2"/>
              </a:rPr>
              <a:t> no </a:t>
            </a:r>
            <a:r>
              <a:rPr lang="de-DE" sz="1800" dirty="0" err="1">
                <a:sym typeface="Wingdings" panose="05000000000000000000" pitchFamily="2" charset="2"/>
              </a:rPr>
              <a:t>improvements</a:t>
            </a:r>
            <a:endParaRPr lang="de-DE" sz="1800" dirty="0"/>
          </a:p>
          <a:p>
            <a:pPr marL="383540" indent="-383540"/>
            <a:endParaRPr lang="de-DE" sz="1800" dirty="0"/>
          </a:p>
          <a:p>
            <a:pPr marL="383540" indent="-383540"/>
            <a:endParaRPr lang="de-DE" sz="1800" dirty="0"/>
          </a:p>
        </p:txBody>
      </p:sp>
    </p:spTree>
    <p:extLst>
      <p:ext uri="{BB962C8B-B14F-4D97-AF65-F5344CB8AC3E}">
        <p14:creationId xmlns:p14="http://schemas.microsoft.com/office/powerpoint/2010/main" val="766952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9BDB3B-E103-1938-5EB6-4EE789E97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Discussion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D04F7FE-B8EF-1CB9-7DD8-205FA21A5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383540" indent="-383540"/>
            <a:r>
              <a:rPr lang="de-DE" dirty="0" err="1"/>
              <a:t>Embeddings</a:t>
            </a:r>
            <a:r>
              <a:rPr lang="de-DE" dirty="0"/>
              <a:t> </a:t>
            </a:r>
            <a:r>
              <a:rPr lang="de-DE" dirty="0" err="1"/>
              <a:t>significantly</a:t>
            </a:r>
            <a:r>
              <a:rPr lang="de-DE" dirty="0"/>
              <a:t> </a:t>
            </a:r>
            <a:r>
              <a:rPr lang="de-DE" dirty="0" err="1"/>
              <a:t>improved</a:t>
            </a:r>
            <a:r>
              <a:rPr lang="de-DE" dirty="0"/>
              <a:t> the </a:t>
            </a:r>
            <a:r>
              <a:rPr lang="de-DE" dirty="0" err="1"/>
              <a:t>results</a:t>
            </a:r>
            <a:r>
              <a:rPr lang="de-DE" dirty="0"/>
              <a:t> </a:t>
            </a:r>
            <a:r>
              <a:rPr lang="de-DE" dirty="0" err="1"/>
              <a:t>compared</a:t>
            </a:r>
            <a:r>
              <a:rPr lang="de-DE" dirty="0"/>
              <a:t> to Baseline</a:t>
            </a:r>
          </a:p>
          <a:p>
            <a:pPr marL="913892" lvl="1" indent="-383540"/>
            <a:r>
              <a:rPr lang="de-DE" dirty="0"/>
              <a:t>0.06 to 0.17 PR-AUC</a:t>
            </a:r>
          </a:p>
          <a:p>
            <a:pPr marL="383540" indent="-383540"/>
            <a:r>
              <a:rPr lang="de-DE" dirty="0"/>
              <a:t>Tree-</a:t>
            </a:r>
            <a:r>
              <a:rPr lang="de-DE" dirty="0" err="1"/>
              <a:t>based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performed</a:t>
            </a:r>
            <a:r>
              <a:rPr lang="de-DE" dirty="0"/>
              <a:t> even better </a:t>
            </a:r>
            <a:r>
              <a:rPr lang="de-DE" dirty="0" err="1"/>
              <a:t>than</a:t>
            </a:r>
            <a:r>
              <a:rPr lang="de-DE" dirty="0"/>
              <a:t> </a:t>
            </a:r>
            <a:r>
              <a:rPr lang="de-DE" dirty="0" err="1"/>
              <a:t>embedding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pPr marL="913892" lvl="1" indent="-383540"/>
            <a:r>
              <a:rPr lang="de-DE" dirty="0" err="1"/>
              <a:t>Overfitting</a:t>
            </a:r>
            <a:r>
              <a:rPr lang="de-DE" dirty="0"/>
              <a:t> of Embedding Model? (Drop in PR-AUC on Test Set)</a:t>
            </a:r>
          </a:p>
        </p:txBody>
      </p:sp>
    </p:spTree>
    <p:extLst>
      <p:ext uri="{BB962C8B-B14F-4D97-AF65-F5344CB8AC3E}">
        <p14:creationId xmlns:p14="http://schemas.microsoft.com/office/powerpoint/2010/main" val="27991527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0B7833-5FC1-335A-3572-0AAA44EF27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Conclusion</a:t>
            </a:r>
            <a:r>
              <a:rPr lang="de-DE" dirty="0"/>
              <a:t> and Future Work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D8319F9-B1EE-2735-FF16-43CC580C95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were</a:t>
            </a:r>
            <a:r>
              <a:rPr lang="de-DE" dirty="0"/>
              <a:t> </a:t>
            </a:r>
            <a:r>
              <a:rPr lang="de-DE" dirty="0" err="1"/>
              <a:t>able</a:t>
            </a:r>
            <a:r>
              <a:rPr lang="de-DE" dirty="0"/>
              <a:t> to </a:t>
            </a:r>
            <a:r>
              <a:rPr lang="de-DE" dirty="0" err="1"/>
              <a:t>train</a:t>
            </a:r>
            <a:r>
              <a:rPr lang="de-DE" dirty="0"/>
              <a:t> a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that</a:t>
            </a:r>
            <a:r>
              <a:rPr lang="de-DE" dirty="0"/>
              <a:t> </a:t>
            </a:r>
            <a:r>
              <a:rPr lang="de-DE" dirty="0" err="1"/>
              <a:t>performs</a:t>
            </a:r>
            <a:r>
              <a:rPr lang="de-DE" dirty="0"/>
              <a:t> better </a:t>
            </a:r>
            <a:r>
              <a:rPr lang="de-DE" dirty="0" err="1"/>
              <a:t>than</a:t>
            </a:r>
            <a:r>
              <a:rPr lang="de-DE" dirty="0"/>
              <a:t> the Benchmark on the Public Test Set</a:t>
            </a:r>
          </a:p>
          <a:p>
            <a:pPr lvl="1"/>
            <a:r>
              <a:rPr lang="de-DE" dirty="0"/>
              <a:t>Rank 102: 0.1895 PR-AUC (</a:t>
            </a:r>
            <a:r>
              <a:rPr lang="de-DE" dirty="0" err="1"/>
              <a:t>XGBoost</a:t>
            </a:r>
            <a:r>
              <a:rPr lang="de-DE" dirty="0"/>
              <a:t>)</a:t>
            </a:r>
          </a:p>
          <a:p>
            <a:pPr lvl="1"/>
            <a:r>
              <a:rPr lang="de-DE" dirty="0"/>
              <a:t>Rank 225: Benchmark</a:t>
            </a:r>
          </a:p>
          <a:p>
            <a:endParaRPr lang="de-DE" dirty="0"/>
          </a:p>
          <a:p>
            <a:endParaRPr lang="de-DE" dirty="0"/>
          </a:p>
          <a:p>
            <a:pPr marL="0" indent="0">
              <a:buNone/>
            </a:pPr>
            <a:r>
              <a:rPr lang="de-DE" b="1" dirty="0"/>
              <a:t>Future Work:</a:t>
            </a:r>
          </a:p>
          <a:p>
            <a:r>
              <a:rPr lang="de-DE" dirty="0"/>
              <a:t>Try </a:t>
            </a:r>
            <a:r>
              <a:rPr lang="de-DE" dirty="0" err="1"/>
              <a:t>other</a:t>
            </a:r>
            <a:r>
              <a:rPr lang="de-DE" dirty="0"/>
              <a:t> </a:t>
            </a:r>
            <a:r>
              <a:rPr lang="de-DE" dirty="0" err="1"/>
              <a:t>tree-based</a:t>
            </a:r>
            <a:r>
              <a:rPr lang="de-DE" dirty="0"/>
              <a:t> </a:t>
            </a:r>
            <a:r>
              <a:rPr lang="de-DE" dirty="0" err="1"/>
              <a:t>algorithms</a:t>
            </a:r>
            <a:endParaRPr lang="de-DE" dirty="0"/>
          </a:p>
          <a:p>
            <a:r>
              <a:rPr lang="de-DE" dirty="0" err="1"/>
              <a:t>Refine</a:t>
            </a:r>
            <a:r>
              <a:rPr lang="de-DE" dirty="0"/>
              <a:t> </a:t>
            </a:r>
            <a:r>
              <a:rPr lang="de-DE" dirty="0" err="1"/>
              <a:t>embedding</a:t>
            </a:r>
            <a:r>
              <a:rPr lang="de-DE" dirty="0"/>
              <a:t> </a:t>
            </a:r>
            <a:r>
              <a:rPr lang="de-DE" dirty="0" err="1"/>
              <a:t>approach</a:t>
            </a:r>
            <a:endParaRPr lang="de-DE" dirty="0"/>
          </a:p>
          <a:p>
            <a:pPr lvl="1"/>
            <a:r>
              <a:rPr lang="de-DE" dirty="0"/>
              <a:t>Maybe </a:t>
            </a:r>
            <a:r>
              <a:rPr lang="de-DE" dirty="0" err="1"/>
              <a:t>transfer</a:t>
            </a:r>
            <a:r>
              <a:rPr lang="de-DE" dirty="0"/>
              <a:t> </a:t>
            </a:r>
            <a:r>
              <a:rPr lang="de-DE" dirty="0" err="1"/>
              <a:t>learning</a:t>
            </a:r>
            <a:r>
              <a:rPr lang="de-DE" dirty="0"/>
              <a:t>?</a:t>
            </a:r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570708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C593B4-C843-4563-0C63-614197E97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Thank</a:t>
            </a:r>
            <a:r>
              <a:rPr lang="de-DE" dirty="0"/>
              <a:t> </a:t>
            </a:r>
            <a:r>
              <a:rPr lang="de-DE" dirty="0" err="1"/>
              <a:t>you</a:t>
            </a:r>
            <a:r>
              <a:rPr lang="de-DE" dirty="0"/>
              <a:t>! </a:t>
            </a:r>
            <a:r>
              <a:rPr lang="de-DE" dirty="0">
                <a:sym typeface="Wingdings" panose="05000000000000000000" pitchFamily="2" charset="2"/>
              </a:rPr>
              <a:t></a:t>
            </a:r>
            <a:endParaRPr lang="de-DE" dirty="0"/>
          </a:p>
        </p:txBody>
      </p:sp>
      <p:sp>
        <p:nvSpPr>
          <p:cNvPr id="4" name="Titel 1">
            <a:extLst>
              <a:ext uri="{FF2B5EF4-FFF2-40B4-BE49-F238E27FC236}">
                <a16:creationId xmlns:a16="http://schemas.microsoft.com/office/drawing/2014/main" id="{E971641E-BE49-5561-84A1-83213769A722}"/>
              </a:ext>
            </a:extLst>
          </p:cNvPr>
          <p:cNvSpPr txBox="1">
            <a:spLocks/>
          </p:cNvSpPr>
          <p:nvPr/>
        </p:nvSpPr>
        <p:spPr>
          <a:xfrm>
            <a:off x="1295400" y="2748362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de-DE" b="1" dirty="0"/>
              <a:t>Q &amp; A</a:t>
            </a:r>
          </a:p>
        </p:txBody>
      </p:sp>
      <p:pic>
        <p:nvPicPr>
          <p:cNvPr id="5" name="Grafik 4" descr="Fragen Silhouette">
            <a:extLst>
              <a:ext uri="{FF2B5EF4-FFF2-40B4-BE49-F238E27FC236}">
                <a16:creationId xmlns:a16="http://schemas.microsoft.com/office/drawing/2014/main" id="{BC6AD024-B19C-FDC0-F3C9-FA3A6B55C2D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13555" y="3928479"/>
            <a:ext cx="1764890" cy="1764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792094"/>
      </p:ext>
    </p:extLst>
  </p:cSld>
  <p:clrMapOvr>
    <a:masterClrMapping/>
  </p:clrMapOvr>
</p:sld>
</file>

<file path=ppt/theme/theme1.xml><?xml version="1.0" encoding="utf-8"?>
<a:theme xmlns:a="http://schemas.openxmlformats.org/drawingml/2006/main" name="Ausschnitt">
  <a:themeElements>
    <a:clrScheme name="Ausschnitt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Ausschnitt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Ausschnit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TM10001105[[fn=Ausschnitt]]</Template>
  <TotalTime>0</TotalTime>
  <Words>594</Words>
  <Application>Microsoft Office PowerPoint</Application>
  <PresentationFormat>Breitbild</PresentationFormat>
  <Paragraphs>112</Paragraphs>
  <Slides>19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Consolas</vt:lpstr>
      <vt:lpstr>Franklin Gothic Book</vt:lpstr>
      <vt:lpstr>Wingdings</vt:lpstr>
      <vt:lpstr>Ausschnitt</vt:lpstr>
      <vt:lpstr>“How to detect a niche of fraudsters?” by BNP Paribas PF</vt:lpstr>
      <vt:lpstr>Agenda</vt:lpstr>
      <vt:lpstr>Introduction</vt:lpstr>
      <vt:lpstr>Literature Review</vt:lpstr>
      <vt:lpstr>Dataset Characteristics</vt:lpstr>
      <vt:lpstr>Dataset Characteristics</vt:lpstr>
      <vt:lpstr>Dataset Characteristics</vt:lpstr>
      <vt:lpstr>Baseline Model</vt:lpstr>
      <vt:lpstr>Baseline Model - Results</vt:lpstr>
      <vt:lpstr>Preprocessing</vt:lpstr>
      <vt:lpstr>Models to compare</vt:lpstr>
      <vt:lpstr>ANN with Embeddings</vt:lpstr>
      <vt:lpstr>ANN with Embeddings</vt:lpstr>
      <vt:lpstr>Results</vt:lpstr>
      <vt:lpstr>Results</vt:lpstr>
      <vt:lpstr>Challenges and Errors</vt:lpstr>
      <vt:lpstr>Discussion</vt:lpstr>
      <vt:lpstr>Conclusion and Future Work</vt:lpstr>
      <vt:lpstr>Thank you! 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Tom Hillekamp</dc:creator>
  <cp:lastModifiedBy>Tom Hillekamp</cp:lastModifiedBy>
  <cp:revision>2</cp:revision>
  <dcterms:created xsi:type="dcterms:W3CDTF">2026-06-14T15:06:48Z</dcterms:created>
  <dcterms:modified xsi:type="dcterms:W3CDTF">2026-06-17T12:14:18Z</dcterms:modified>
</cp:coreProperties>
</file>